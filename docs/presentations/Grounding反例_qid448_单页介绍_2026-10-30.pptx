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我们目前先用 Qwen3-VL-8B-Instruct 做 Direct grounding 基线：从整条视频均匀采样六十四帧，输入真实时间戳和查询，让模型一次输出目标事件的起止时间，寻找可以进一步改进的反例。</a:t>
            </a:r>
          </a:p>
          <a:p>
            <a:pPr/>
            <a:endParaRPr lang="zh-CN" dirty="0"/>
          </a:p>
          <a:p>
            <a:pPr/>
            <a:r>
              <a:rPr lang="zh-CN" dirty="0"/>
              <a:t>这一例的查询是“鸡在鸡舍里”。数据集标注的区间是九十二到一百一十二秒，模型却预测为一百三十到一百四十五秒，两段完全没有重叠，交并比为零。左侧的原始输入帧显示，标注段有多张画面清楚出现围栏里的鸡，而预测段的采样帧主要是道路和紫色花朵。</a:t>
            </a:r>
          </a:p>
          <a:p>
            <a:pPr/>
            <a:endParaRPr lang="zh-CN" dirty="0"/>
          </a:p>
          <a:p>
            <a:pPr/>
            <a:r>
              <a:rPr lang="zh-CN" dirty="0"/>
              <a:t>根据现有证据，我们初步把它归为选错事件位置。目标已经出现在模型的原始输入中，但最终输出没有对应到这些证据。具体是视觉识别出错，还是画面与时间的关联出错，目前还不能确定。</a:t>
            </a:r>
          </a:p>
          <a:p>
            <a:pPr/>
            <a:endParaRPr lang="zh-CN" dirty="0"/>
          </a:p>
          <a:p>
            <a:pPr/>
            <a:r>
              <a:rPr lang="zh-CN" dirty="0"/>
              <a:t>下一步可以检验一个具体思路：模型给出区间后，先核对其中是否有鸡，以及鸡是否在围栏内；如果证据不足，再重新寻找并核实位置。实验需要同时检查修正了多少错误，以及是否把原本正确的结果改错。这部分还没有开展，目前也没有修正收益的结论。</a:t>
            </a:r>
          </a:p>
          <a:p>
            <a:pPr/>
            <a:endParaRPr lang="zh-CN" dirty="0"/>
          </a:p>
          <a:p>
            <a:pPr/>
            <a:r>
              <a:rPr lang="zh-CN" dirty="0"/>
              <a:t>本例来自五十二条反例分析，判断依据仍是原来的六十四帧，属于助手初筛，尚未经过独立人工复核。原预测、数据集标注和评价结果都没有改动。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qv_grounding_counterexample_qid44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qv_grounding_counterexample_qid44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1b763f9969e4b2.jpg"/>
  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ection-kicker"/>
          <p:cNvGrpSpPr/>
          <p:nvPr/>
        </p:nvGrpSpPr>
        <p:grpSpPr>
          <a:xfrm>
            <a:off x="374142" y="254000"/>
            <a:ext cx="2545690" cy="264033"/>
            <a:chOff x="374142" y="254000"/>
            <a:chExt cx="254569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374142" y="254000"/>
              <a:ext cx="2545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DIRECT GROUNDING / 反例诊断</a:t>
              </a:r>
            </a:p>
          </p:txBody>
        </p:sp>
      </p:grpSp>
      <p:grpSp>
        <p:nvGrpSpPr>
          <p:cNvPr id="5" name="page-title"/>
          <p:cNvGrpSpPr/>
          <p:nvPr/>
        </p:nvGrpSpPr>
        <p:grpSpPr>
          <a:xfrm>
            <a:off x="364998" y="609600"/>
            <a:ext cx="7360920" cy="616077"/>
            <a:chOff x="364998" y="609600"/>
            <a:chExt cx="7360920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364998" y="609600"/>
              <a:ext cx="73609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Grounding 反例：把鸡舍定位到了花景</a:t>
              </a:r>
            </a:p>
          </p:txBody>
        </p:sp>
      </p:grpSp>
      <p:grpSp>
        <p:nvGrpSpPr>
          <p:cNvPr id="7" name="query"/>
          <p:cNvGrpSpPr/>
          <p:nvPr/>
        </p:nvGrpSpPr>
        <p:grpSpPr>
          <a:xfrm>
            <a:off x="371856" y="1260475"/>
            <a:ext cx="6848040" cy="352044"/>
            <a:chOff x="371856" y="1260475"/>
            <a:chExt cx="6848040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371856" y="1260475"/>
              <a:ext cx="6848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查询：鸡在鸡舍里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The chickens are in a coop.　｜　qid448</a:t>
              </a:r>
            </a:p>
          </p:txBody>
        </p:sp>
      </p:grpSp>
      <p:grpSp>
        <p:nvGrpSpPr>
          <p:cNvPr id="9" name="experiment-setup"/>
          <p:cNvGrpSpPr/>
          <p:nvPr/>
        </p:nvGrpSpPr>
        <p:grpSpPr>
          <a:xfrm>
            <a:off x="374142" y="1644650"/>
            <a:ext cx="6471209" cy="264033"/>
            <a:chOff x="374142" y="1644650"/>
            <a:chExt cx="6471209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374142" y="1644650"/>
              <a:ext cx="6471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Qwen3-VL-8B-Instruct · 整视频均匀 64 帧 + 真实时间戳 · 一次输出起止时间</a:t>
              </a:r>
            </a:p>
          </p:txBody>
        </p:sp>
      </p:grpSp>
      <p:grpSp>
        <p:nvGrpSpPr>
          <p:cNvPr id="11" name="original-frame-evidence"/>
          <p:cNvGrpSpPr/>
          <p:nvPr/>
        </p:nvGrpSpPr>
        <p:grpSpPr>
          <a:xfrm>
            <a:off x="381000" y="2066925"/>
            <a:ext cx="7143750" cy="4261184"/>
            <a:chOff x="381000" y="2066925"/>
            <a:chExt cx="7143750" cy="426118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" y="2066925"/>
              <a:ext cx="7143750" cy="4261184"/>
            </a:xfrm>
            <a:prstGeom prst="rect">
              <a:avLst/>
            </a:prstGeom>
          </p:spPr>
        </p:pic>
      </p:grpSp>
      <p:grpSp>
        <p:nvGrpSpPr>
          <p:cNvPr id="17" name="temporal-result"/>
          <p:cNvGrpSpPr/>
          <p:nvPr/>
        </p:nvGrpSpPr>
        <p:grpSpPr>
          <a:xfrm>
            <a:off x="7829550" y="2070100"/>
            <a:ext cx="2272958" cy="1743583"/>
            <a:chOff x="7829550" y="2070100"/>
            <a:chExt cx="2272958" cy="1743583"/>
          </a:xfrm>
        </p:grpSpPr>
        <p:grpSp>
          <p:nvGrpSpPr>
            <p:cNvPr id="14" name="interval-values"/>
            <p:cNvGrpSpPr/>
            <p:nvPr/>
          </p:nvGrpSpPr>
          <p:grpSpPr>
            <a:xfrm>
              <a:off x="7837932" y="2070100"/>
              <a:ext cx="2264576" cy="791718"/>
              <a:chOff x="7837932" y="2070100"/>
              <a:chExt cx="2264576" cy="791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837932" y="2070100"/>
                <a:ext cx="21013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6834E"/>
                    </a:solidFill>
                    <a:latin typeface="+mn-lt"/>
                    <a:ea typeface="+mn-ea"/>
                    <a:cs typeface="+mn-cs"/>
                  </a:rPr>
                  <a:t>标注　92–112 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37932" y="2451100"/>
                <a:ext cx="226457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B74343"/>
                    </a:solidFill>
                    <a:latin typeface="+mn-lt"/>
                    <a:ea typeface="+mn-ea"/>
                    <a:cs typeface="+mn-cs"/>
                  </a:rPr>
                  <a:t>预测　130–145 s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7829550" y="2794000"/>
              <a:ext cx="208435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B74343"/>
                  </a:solidFill>
                  <a:latin typeface="+mn-lt"/>
                  <a:ea typeface="+mn-ea"/>
                  <a:cs typeface="+mn-cs"/>
                </a:rPr>
                <a:t>IoU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1742" y="35496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事件位置选错（助手初筛）</a:t>
              </a:r>
            </a:p>
          </p:txBody>
        </p:sp>
      </p:grpSp>
      <p:grpSp>
        <p:nvGrpSpPr>
          <p:cNvPr id="20" name="diagnosis"/>
          <p:cNvGrpSpPr/>
          <p:nvPr/>
        </p:nvGrpSpPr>
        <p:grpSpPr>
          <a:xfrm>
            <a:off x="7839456" y="3860800"/>
            <a:ext cx="2923794" cy="962533"/>
            <a:chOff x="7839456" y="3860800"/>
            <a:chExt cx="2923794" cy="962533"/>
          </a:xfrm>
        </p:grpSpPr>
        <p:sp>
          <p:nvSpPr>
            <p:cNvPr id="18" name="TextBox 18"/>
            <p:cNvSpPr txBox="1"/>
            <p:nvPr/>
          </p:nvSpPr>
          <p:spPr>
            <a:xfrm>
              <a:off x="7839456" y="3860800"/>
              <a:ext cx="23042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目标证据已在输入中，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预测却落到另一场景。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1742" y="45593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原因待区分：视觉识别或时间关联。</a:t>
              </a:r>
            </a:p>
          </p:txBody>
        </p:sp>
      </p:grpSp>
      <p:grpSp>
        <p:nvGrpSpPr>
          <p:cNvPr id="24" name="next-test"/>
          <p:cNvGrpSpPr/>
          <p:nvPr/>
        </p:nvGrpSpPr>
        <p:grpSpPr>
          <a:xfrm>
            <a:off x="7848600" y="4953000"/>
            <a:ext cx="3962400" cy="1390650"/>
            <a:chOff x="7848600" y="4953000"/>
            <a:chExt cx="3962400" cy="1390650"/>
          </a:xfrm>
        </p:grpSpPr>
        <p:sp>
          <p:nvSpPr>
            <p:cNvPr id="21" name="Rectangle 21"/>
            <p:cNvSpPr/>
            <p:nvPr/>
          </p:nvSpPr>
          <p:spPr>
            <a:xfrm>
              <a:off x="7848600" y="4953000"/>
              <a:ext cx="3962400" cy="1390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29956" y="50514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下一步验证（未开展）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0718" y="5384800"/>
              <a:ext cx="2374201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核验“鸡 + 围栏内”条件；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证据不足时重新定位，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检查修正率与误改率。</a:t>
              </a:r>
            </a:p>
          </p:txBody>
        </p:sp>
      </p:grpSp>
      <p:grpSp>
        <p:nvGrpSpPr>
          <p:cNvPr id="27" name="source-and-limits"/>
          <p:cNvGrpSpPr/>
          <p:nvPr/>
        </p:nvGrpSpPr>
        <p:grpSpPr>
          <a:xfrm>
            <a:off x="374904" y="6419850"/>
            <a:ext cx="5261762" cy="444246"/>
            <a:chOff x="374904" y="6419850"/>
            <a:chExt cx="5261762" cy="444246"/>
          </a:xfrm>
        </p:grpSpPr>
        <p:sp>
          <p:nvSpPr>
            <p:cNvPr id="25" name="TextBox 25"/>
            <p:cNvSpPr txBox="1"/>
            <p:nvPr/>
          </p:nvSpPr>
          <p:spPr>
            <a:xfrm>
              <a:off x="374904" y="6419850"/>
              <a:ext cx="5261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依据原 64 帧初筛，尚无独立人工复核或修正收益；原预测与 GT 未改动。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4904" y="6629400"/>
              <a:ext cx="4468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来源：QVHighlights qid448 · 52 条反例分析（2026-10-29）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qv_grounding_counterexample_qid448">
  <a:themeElements>
    <a:clrScheme name="qv_grounding_counterexample_qid448">
      <a:dk1>
        <a:srgbClr val="17324D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237F8C"/>
      </a:accent2>
      <a:accent3>
        <a:srgbClr val="C76128"/>
      </a:accent3>
      <a:accent4>
        <a:srgbClr val="17324D"/>
      </a:accent4>
      <a:accent5>
        <a:srgbClr val="52667A"/>
      </a:accent5>
      <a:accent6>
        <a:srgbClr val="D5DEE8"/>
      </a:accent6>
      <a:hlink>
        <a:srgbClr val="237F8C"/>
      </a:hlink>
      <a:folHlink>
        <a:srgbClr val="C76128"/>
      </a:folHlink>
    </a:clrScheme>
    <a:fontScheme name="qv_grounding_counterexample_qid448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v_grounding_counterexample_qid4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qv_grounding_counterexample_qid448">
  <a:themeElements>
    <a:clrScheme name="qv_grounding_counterexample_qid448">
      <a:dk1>
        <a:srgbClr val="17324D"/>
      </a:dk1>
      <a:lt1>
        <a:srgbClr val="FFFFFF"/>
      </a:lt1>
      <a:dk2>
        <a:srgbClr val="1F497D"/>
      </a:dk2>
      <a:lt2>
        <a:srgbClr val="F2F5F8"/>
      </a:lt2>
      <a:accent1>
        <a:srgbClr val="17324D"/>
      </a:accent1>
      <a:accent2>
        <a:srgbClr val="237F8C"/>
      </a:accent2>
      <a:accent3>
        <a:srgbClr val="C76128"/>
      </a:accent3>
      <a:accent4>
        <a:srgbClr val="17324D"/>
      </a:accent4>
      <a:accent5>
        <a:srgbClr val="52667A"/>
      </a:accent5>
      <a:accent6>
        <a:srgbClr val="D5DEE8"/>
      </a:accent6>
      <a:hlink>
        <a:srgbClr val="237F8C"/>
      </a:hlink>
      <a:folHlink>
        <a:srgbClr val="C76128"/>
      </a:folHlink>
    </a:clrScheme>
    <a:fontScheme name="qv_grounding_counterexample_qid448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v_grounding_counterexample_qid4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2026-10-30T07:46:10Z</dcterms:created>
  <dcterms:modified xsi:type="dcterms:W3CDTF">2026-10-30T07:46:10Z</dcterms:modified>
  <cp:category/>
  <cp:contentStatus/>
</cp:coreProperties>
</file>