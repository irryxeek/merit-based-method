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TaskSpec 可以理解成给后续比较器使用的任务说明书。它接收用户的文字请求，通过一次纯文本模型调用，把观看目的和明确条件整理出来。</a:t>
            </a:r>
          </a:p>
          <a:p>
            <a:pPr/>
            <a:endParaRPr lang="zh-CN" dirty="0"/>
          </a:p>
          <a:p>
            <a:pPr/>
            <a:r>
              <a:rPr lang="zh-CN" dirty="0"/>
              <a:t>例如，用户说“找出穿绿色衣服的女子跳舞的精彩片段”。这里是教学示意，不是某条实测模型响应。解析结果属于具体请求，观看目的是寻找该女子跳舞的高光；对象约束引用“穿绿色衣服的女子”，事件约束引用“跳舞”。每个约束保留原文，便于核对。用户没有要求输出几个片段，也没有给出时长限制，就不添加这两类约束。人物数量同样不能误当成输出高光数量。请求类型还可以是通用或较宽泛的请求。</a:t>
            </a:r>
          </a:p>
          <a:p>
            <a:pPr/>
            <a:endParaRPr lang="zh-CN" dirty="0"/>
          </a:p>
          <a:p>
            <a:pPr/>
            <a:r>
              <a:rPr lang="zh-CN" dirty="0"/>
              <a:t>随后，比较器将这份说明与候选画面、记忆一起使用：先判断片段是否符合请求，区分满足、违反和未知；再比较与观看目的相关的高光价值；遇到可查证的证据缺口，可以提出“衣服是否为绿色”这样的具体问题，供后续模块处理。TaskSpec 自身只负责解析需求，既不读取视频，也不直接给片段打分。</a:t>
            </a:r>
          </a:p>
          <a:p>
            <a:pPr/>
            <a:endParaRPr lang="zh-CN" dirty="0"/>
          </a:p>
          <a:p>
            <a:pPr/>
            <a:r>
              <a:rPr lang="zh-CN" dirty="0"/>
              <a:t>记住两者的分工：TaskSpec 记录用户想看什么，记忆记录视频里看到了什么。当前初始事实提取和记忆构建独立于查询，到比较阶段才结合使用。通用请求本应没有具体对象约束；TVSum 中已经发现误提取这一字段的问题，但它是否导致大量并列判断，仍需要单变量实验验证。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alue_taskspec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alue_taskspec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594360" y="314325"/>
            <a:ext cx="7235495" cy="1260094"/>
            <a:chOff x="594360" y="314325"/>
            <a:chExt cx="7235495" cy="126009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14325"/>
              <a:ext cx="1505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ReVALUE / 模块说明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650875"/>
              <a:ext cx="7235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TaskSpec：把“想看什么”转成任务约束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22237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一次纯文本模型调用，生成后续比较使用的任务说明</a:t>
              </a:r>
            </a:p>
          </p:txBody>
        </p:sp>
      </p:grpSp>
      <p:grpSp>
        <p:nvGrpSpPr>
          <p:cNvPr id="9" name="query-input"/>
          <p:cNvGrpSpPr/>
          <p:nvPr/>
        </p:nvGrpSpPr>
        <p:grpSpPr>
          <a:xfrm>
            <a:off x="598932" y="2032000"/>
            <a:ext cx="2301621" cy="2750820"/>
            <a:chOff x="598932" y="2032000"/>
            <a:chExt cx="2301621" cy="275082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2032000"/>
              <a:ext cx="15677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用户请求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2619375"/>
              <a:ext cx="2301621" cy="1229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“找出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穿绿色衣服的女子</a:t>
              </a:r>
              <a:b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跳舞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的精彩片段。”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4098925"/>
              <a:ext cx="1929765" cy="6838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7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输入：自然语言 query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示意解析，非实测输出</a:t>
              </a:r>
            </a:p>
          </p:txBody>
        </p:sp>
      </p:grpSp>
      <p:grpSp>
        <p:nvGrpSpPr>
          <p:cNvPr id="11" name="query-to-task"/>
          <p:cNvGrpSpPr/>
          <p:nvPr/>
        </p:nvGrpSpPr>
        <p:grpSpPr>
          <a:xfrm>
            <a:off x="3314700" y="3448050"/>
            <a:ext cx="304800" cy="1"/>
            <a:chOff x="3314700" y="3448050"/>
            <a:chExt cx="304800" cy="1"/>
          </a:xfrm>
        </p:grpSpPr>
        <p:sp>
          <p:nvSpPr>
            <p:cNvPr id="10" name="Line 10"/>
            <p:cNvSpPr/>
            <p:nvPr/>
          </p:nvSpPr>
          <p:spPr>
            <a:xfrm>
              <a:off x="3314700" y="3448050"/>
              <a:ext cx="304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23" name="taskspec-contract"/>
          <p:cNvGrpSpPr/>
          <p:nvPr/>
        </p:nvGrpSpPr>
        <p:grpSpPr>
          <a:xfrm>
            <a:off x="3733800" y="1924050"/>
            <a:ext cx="4114800" cy="3333750"/>
            <a:chOff x="3733800" y="1924050"/>
            <a:chExt cx="4114800" cy="3333750"/>
          </a:xfrm>
        </p:grpSpPr>
        <p:sp>
          <p:nvSpPr>
            <p:cNvPr id="12" name="Rectangle 12"/>
            <p:cNvSpPr/>
            <p:nvPr/>
          </p:nvSpPr>
          <p:spPr>
            <a:xfrm>
              <a:off x="3733800" y="1924050"/>
              <a:ext cx="4114800" cy="3333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89832" y="2041525"/>
              <a:ext cx="17673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TaskSpec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2880" y="24320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结构化任务说明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000500" y="27813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grpSp>
          <p:nvGrpSpPr>
            <p:cNvPr id="20" name="taskspec-fields"/>
            <p:cNvGrpSpPr/>
            <p:nvPr/>
          </p:nvGrpSpPr>
          <p:grpSpPr>
            <a:xfrm>
              <a:off x="3991356" y="2898775"/>
              <a:ext cx="3168396" cy="1466469"/>
              <a:chOff x="3991356" y="2898775"/>
              <a:chExt cx="3168396" cy="146646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991356" y="2898775"/>
                <a:ext cx="31441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类型：specific（具体请求）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91356" y="327025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目的：寻找该女子跳舞的高光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91356" y="3641725"/>
                <a:ext cx="295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对象：“穿绿色衣服的女子”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91356" y="4013200"/>
                <a:ext cx="14964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事件：“跳舞”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992880" y="447040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 / 时长：未指定 → 不添加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2880" y="4822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约束保留原文引用，便于核对</a:t>
              </a:r>
            </a:p>
          </p:txBody>
        </p:sp>
      </p:grpSp>
      <p:grpSp>
        <p:nvGrpSpPr>
          <p:cNvPr id="25" name="task-to-comparison"/>
          <p:cNvGrpSpPr/>
          <p:nvPr/>
        </p:nvGrpSpPr>
        <p:grpSpPr>
          <a:xfrm>
            <a:off x="7962900" y="3448050"/>
            <a:ext cx="304800" cy="1"/>
            <a:chOff x="7962900" y="3448050"/>
            <a:chExt cx="304800" cy="1"/>
          </a:xfrm>
        </p:grpSpPr>
        <p:sp>
          <p:nvSpPr>
            <p:cNvPr id="24" name="Line 24"/>
            <p:cNvSpPr/>
            <p:nvPr/>
          </p:nvSpPr>
          <p:spPr>
            <a:xfrm>
              <a:off x="7962900" y="3448050"/>
              <a:ext cx="304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37" name="comparison-use"/>
          <p:cNvGrpSpPr/>
          <p:nvPr/>
        </p:nvGrpSpPr>
        <p:grpSpPr>
          <a:xfrm>
            <a:off x="8371332" y="2032000"/>
            <a:ext cx="2441448" cy="2998470"/>
            <a:chOff x="8371332" y="2032000"/>
            <a:chExt cx="2441448" cy="2998470"/>
          </a:xfrm>
        </p:grpSpPr>
        <p:sp>
          <p:nvSpPr>
            <p:cNvPr id="26" name="TextBox 26"/>
            <p:cNvSpPr txBox="1"/>
            <p:nvPr/>
          </p:nvSpPr>
          <p:spPr>
            <a:xfrm>
              <a:off x="8371332" y="2032000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供比较器使用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4380" y="24701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结合候选画面与记忆</a:t>
              </a:r>
            </a:p>
          </p:txBody>
        </p:sp>
        <p:grpSp>
          <p:nvGrpSpPr>
            <p:cNvPr id="30" name="eligibility-use"/>
            <p:cNvGrpSpPr/>
            <p:nvPr/>
          </p:nvGrpSpPr>
          <p:grpSpPr>
            <a:xfrm>
              <a:off x="8372856" y="2927350"/>
              <a:ext cx="1956816" cy="617220"/>
              <a:chOff x="8372856" y="2927350"/>
              <a:chExt cx="1956816" cy="61722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372856" y="29273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核对是否符合请求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74380" y="325120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满足 / 违反 / 未知</a:t>
                </a:r>
              </a:p>
            </p:txBody>
          </p:sp>
        </p:grpSp>
        <p:grpSp>
          <p:nvGrpSpPr>
            <p:cNvPr id="33" name="value-use"/>
            <p:cNvGrpSpPr/>
            <p:nvPr/>
          </p:nvGrpSpPr>
          <p:grpSpPr>
            <a:xfrm>
              <a:off x="8372856" y="3670300"/>
              <a:ext cx="2439924" cy="617220"/>
              <a:chOff x="8372856" y="3670300"/>
              <a:chExt cx="2439924" cy="61722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372856" y="367030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比较相关高光价值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74380" y="3994150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选择与需求相关的价值维度</a:t>
                </a:r>
              </a:p>
            </p:txBody>
          </p:sp>
        </p:grpSp>
        <p:grpSp>
          <p:nvGrpSpPr>
            <p:cNvPr id="36" name="evidence-gap-use"/>
            <p:cNvGrpSpPr/>
            <p:nvPr/>
          </p:nvGrpSpPr>
          <p:grpSpPr>
            <a:xfrm>
              <a:off x="8372856" y="4413250"/>
              <a:ext cx="2036064" cy="617220"/>
              <a:chOff x="8372856" y="4413250"/>
              <a:chExt cx="2036064" cy="61722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8372856" y="44132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提出待查证的问题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74380" y="4737100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例：衣服是否为绿色？</a:t>
                </a:r>
              </a:p>
            </p:txBody>
          </p:sp>
        </p:grpSp>
      </p:grpSp>
      <p:grpSp>
        <p:nvGrpSpPr>
          <p:cNvPr id="42" name="module-boundary"/>
          <p:cNvGrpSpPr/>
          <p:nvPr/>
        </p:nvGrpSpPr>
        <p:grpSpPr>
          <a:xfrm>
            <a:off x="609600" y="5619750"/>
            <a:ext cx="10972800" cy="609600"/>
            <a:chOff x="609600" y="5619750"/>
            <a:chExt cx="10972800" cy="609600"/>
          </a:xfrm>
        </p:grpSpPr>
        <p:sp>
          <p:nvSpPr>
            <p:cNvPr id="38" name="Rectangle 38"/>
            <p:cNvSpPr/>
            <p:nvPr/>
          </p:nvSpPr>
          <p:spPr>
            <a:xfrm>
              <a:off x="609600" y="5619750"/>
              <a:ext cx="109728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9056" y="5794375"/>
              <a:ext cx="2946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TaskSpec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记录“想看什么”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857875" y="57816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05906" y="5794375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记忆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记录“看到了什么”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603504" y="6400800"/>
            <a:ext cx="10984992" cy="234696"/>
            <a:chOff x="603504" y="640080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400800"/>
              <a:ext cx="4414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实现依据：schema.py · task_grounding.py · prompts.py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2830" y="640080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/ 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alue_taskspec_intro">
  <a:themeElements>
    <a:clrScheme name="revalue_taskspec_intro">
      <a:dk1>
        <a:srgbClr val="243447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C4622D"/>
      </a:accent2>
      <a:accent3>
        <a:srgbClr val="267C86"/>
      </a:accent3>
      <a:accent4>
        <a:srgbClr val="17324D"/>
      </a:accent4>
      <a:accent5>
        <a:srgbClr val="526575"/>
      </a:accent5>
      <a:accent6>
        <a:srgbClr val="CCD6DF"/>
      </a:accent6>
      <a:hlink>
        <a:srgbClr val="C4622D"/>
      </a:hlink>
      <a:folHlink>
        <a:srgbClr val="267C86"/>
      </a:folHlink>
    </a:clrScheme>
    <a:fontScheme name="revalue_taskspec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taskspec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alue_taskspec_intro">
  <a:themeElements>
    <a:clrScheme name="revalue_taskspec_intro">
      <a:dk1>
        <a:srgbClr val="243447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C4622D"/>
      </a:accent2>
      <a:accent3>
        <a:srgbClr val="267C86"/>
      </a:accent3>
      <a:accent4>
        <a:srgbClr val="17324D"/>
      </a:accent4>
      <a:accent5>
        <a:srgbClr val="526575"/>
      </a:accent5>
      <a:accent6>
        <a:srgbClr val="CCD6DF"/>
      </a:accent6>
      <a:hlink>
        <a:srgbClr val="C4622D"/>
      </a:hlink>
      <a:folHlink>
        <a:srgbClr val="267C86"/>
      </a:folHlink>
    </a:clrScheme>
    <a:fontScheme name="revalue_taskspec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taskspec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2026-10-27T09:56:06Z</dcterms:created>
  <dcterms:modified xsi:type="dcterms:W3CDTF">2026-10-27T09:56:06Z</dcterms:modified>
  <cp:category/>
  <cp:contentStatus/>
</cp:coreProperties>
</file>