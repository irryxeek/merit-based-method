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6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_rels/chart10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01.xlsx"/>
</Relationships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60759493671"/>
          <c:y val="0.0568181818182"/>
          <c:w val="0.607594936709"/>
          <c:h val="0.79545454545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Oracle F1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rgbClr val="526575"/>
              </a:solidFill>
              <a:ln>
                <a:solidFill>
                  <a:srgbClr val="526575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原 REZE</c:v>
                </c:pt>
                <c:pt idx="1">
                  <c:v>概念提示</c:v>
                </c:pt>
                <c:pt idx="2">
                  <c:v>概念＋时间分散</c:v>
                </c:pt>
                <c:pt idx="3">
                  <c:v>均匀选片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42.34</c:v>
                </c:pt>
                <c:pt idx="1">
                  <c:v>42.18</c:v>
                </c:pt>
                <c:pt idx="2">
                  <c:v>44.86</c:v>
                </c:pt>
                <c:pt idx="3">
                  <c:v>46.62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zh-CN" sz="1800" b="1">
                  <a:solidFill>
                    <a:srgbClr val="243447"/>
                  </a:solidFill>
                  <a:latin typeface="Arial"/>
                  <a:ea typeface="Microsoft YaHei"/>
                  <a:cs typeface="Arial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9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43447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"/>
          <c:min val="0"/>
        </c:scaling>
        <c:delete val="0"/>
        <c:axPos val="b"/>
        <c:majorGridlines>
          <c:spPr>
            <a:ln w="6350" cap="flat" cmpd="sng" algn="ctr">
              <a:solidFill>
                <a:srgbClr val="E4EAF0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rgbClr val="526575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1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500">
          <a:solidFill>
            <a:srgbClr val="243447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1219512195"/>
          <c:y val="0.0568181818182"/>
          <c:w val="0.59756097561"/>
          <c:h val="0.79545454545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Top-5 mAP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rgbClr val="B44442"/>
              </a:solidFill>
              <a:ln>
                <a:solidFill>
                  <a:srgbClr val="B44442"/>
                </a:solidFill>
              </a:ln>
            </c:spPr>
          </c:dPt>
          <c:dPt>
            <c:idx val="2"/>
            <c:invertIfNegative val="0"/>
            <c:spPr>
              <a:solidFill>
                <a:srgbClr val="526575"/>
              </a:solidFill>
              <a:ln>
                <a:solidFill>
                  <a:srgbClr val="526575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REZE B0</c:v>
                </c:pt>
                <c:pt idx="1">
                  <c:v>P_pair</c:v>
                </c:pt>
                <c:pt idx="2">
                  <c:v>四态直接比较</c:v>
                </c:pt>
                <c:pt idx="3">
                  <c:v>决策记忆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61.3167</c:v>
                </c:pt>
                <c:pt idx="1">
                  <c:v>58.3816</c:v>
                </c:pt>
                <c:pt idx="2">
                  <c:v>61.3167</c:v>
                </c:pt>
                <c:pt idx="3">
                  <c:v>61.3167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lang="zh-CN" sz="1650" b="1">
                  <a:solidFill>
                    <a:srgbClr val="243447"/>
                  </a:solidFill>
                  <a:latin typeface="Arial"/>
                  <a:ea typeface="Microsoft YaHei"/>
                  <a:cs typeface="Arial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9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43447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70"/>
          <c:min val="0"/>
        </c:scaling>
        <c:delete val="0"/>
        <c:axPos val="b"/>
        <c:majorGridlines>
          <c:spPr>
            <a:ln w="6350" cap="flat" cmpd="sng" algn="ctr">
              <a:solidFill>
                <a:srgbClr val="E4EAF0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rgbClr val="526575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1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500">
          <a:solidFill>
            <a:srgbClr val="243447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这次汇报覆盖十月二十一日至二十七日，承接上一周的实验进展。本周主要推进了 REZE 的跨数据集复现和 ReVALUE 的记忆、回看验证。先给结论：基线覆盖已经扩大，但新增记忆与定向回看还没有带来稳定的精度收益。接下来重点介绍已经完成的结果、可以确认的问题，以及下一轮应该如何用最小实验验证。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本周工作分成三条线。第一条是基线覆盖：MR.HiSum 完成一千八百八十八条可用测试视频，TVSum 完成五十条视频，QFVS 完成全部一百八十个查询，SVHighlights 完成七场长视频试验。第二条是方法验证：QV 修复版 R2 的一百条全部完成，没有技术回退，但精度门槛没有通过。第三条是 TVSum 迁移和离线诊断，已经定位到任务约束误提取及记忆草稿选择损失。建议下一步先只检验错误对象约束，协议已准备，新增预算仍待授权。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这里先明确方法实现到哪一步。图中是按现有代码和报告整理的主流程：REZE 通过密集初始化得到候选，随后对 Top-5 候选做任务解析、事实与决策记忆处理，再用四态比较调整排序。四种状态分别是胜、负、并列和证据不足。记忆和比较已经有局部对照，但还不能说完整自主 Agent 闭环已经验证。在 QV R2 中，实际只有七条触发配对观察，模型没有生成有效规划，动作由预设控制器规则产生。自主连续补证、事件发现、边界细化和集合选择都仍需验收。当前还依赖 REZE 初始化和旧帧，也没有证明只依赖记忆的成本优势。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TaskSpec 可以理解成给后续比较器使用的任务说明书。它接收用户的文字请求，通过一次纯文本模型调用，把观看目的和明确条件整理出来。</a:t>
            </a:r>
          </a:p>
          <a:p>
            <a:pPr/>
            <a:endParaRPr lang="zh-CN" dirty="0"/>
          </a:p>
          <a:p>
            <a:pPr/>
            <a:r>
              <a:rPr lang="zh-CN" dirty="0"/>
              <a:t>例如，用户说“找出穿绿色衣服的女子跳舞的精彩片段”。这里是教学示意，不是某条实测模型响应。解析结果属于具体请求，观看目的是寻找该女子跳舞的高光；对象约束引用“穿绿色衣服的女子”，事件约束引用“跳舞”。每个约束保留原文，便于核对。用户没有要求输出几个片段，也没有给出时长限制，就不添加这两类约束。人物数量同样不能误当成输出高光数量。请求类型还可以是通用或较宽泛的请求。</a:t>
            </a:r>
          </a:p>
          <a:p>
            <a:pPr/>
            <a:endParaRPr lang="zh-CN" dirty="0"/>
          </a:p>
          <a:p>
            <a:pPr/>
            <a:r>
              <a:rPr lang="zh-CN" dirty="0"/>
              <a:t>随后，比较器将这份说明与候选画面、记忆一起使用：先判断片段是否符合请求，区分满足、违反和未知；再比较与观看目的相关的高光价值；遇到可查证的证据缺口，可以提出“衣服是否为绿色”这样的具体问题，供后续模块处理。TaskSpec 自身只负责解析需求，既不读取视频，也不直接给片段打分。</a:t>
            </a:r>
          </a:p>
          <a:p>
            <a:pPr/>
            <a:endParaRPr lang="zh-CN" dirty="0"/>
          </a:p>
          <a:p>
            <a:pPr/>
            <a:r>
              <a:rPr lang="zh-CN" dirty="0"/>
              <a:t>记住两者的分工：TaskSpec 记录用户想看什么，记忆记录视频里看到了什么。当前初始事实提取和记忆构建独立于查询，到比较阶段才结合使用。通用请求本应没有具体对象约束；TVSum 中已经发现误提取这一字段的问题，但它是否导致大量并列判断，仍需要单变量实验验证。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这些结果需要同时看覆盖范围和任务指标。MR.HiSum 覆盖测试集的百分之九十四点四，mAP50 和 mAP15 分别是五十七和二十三点九；摘要 F1 是三十八点二七，低于常数评分经过同一个摘要选择器得到的五十六点六一。这说明局部高分排序和摘要覆盖并不是同一个问题，常数评分也不等同于随机摘要。TVSum 已完成五十条视频，主要报告固定十条验证视频的 Top-5 mAP 六十一点三二，全部五十条的五十四点八九作为补充，两种范围均高于同口径随机对照。QFVS 全查询与 SVHighlights 七场的结果也已形成，但前者没有超过均匀选片，后者属于开发试验。最后，TVHighlights 本地视频和标注仍未就绪，没有成绩，它与 TVSum 是不同数据集。各行的 mAP、Top-5 mAP 和 F1 不能直接横比。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QFVS 上最值得注意的是，概念提示的小样本收益没有推广到全部查询。原 REZE 的 Oracle F1 是四十二点三四，单独使用概念提示为四十二点一八，反而略低。加入时间分散后达到四十四点八六，有改善，但仍低于同预算均匀选片的四十六点六二。因此不能把问题简单归结为提示不够具体，还需要分别检查语义匹配与视频覆盖。这里的全部一百八十个查询只来自四个源视频，即使排除最初四条开发查询，剩余一百七十六条也仍来自这四个视频，不能称为未见视频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QV 的候选分散实验没有达到继续采用的门槛。在固定一百条开发样本上，原 Top-5 为四十四点五八 mAP、七十八 Hit@1；分散候选为四十四点六六和七十七。mAP 精确增加零点零七九八个百分点，低于预先规定的一个百分点门槛，Hit@1 还下降了一个百分点，所以后续保留原 Top-5。页面下方单独列出上周背景：完整 val1550 的 P_pair 在十月二十日已经完成，达到四十三点七六 mAP 和七十六点八四 Hit@1，相对 B0 分别提高约零点七七和五点一六个百分点。这不是本周新实验，也不能与开发一百条直接比较均值。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修复版 R2 说明工程完成与方法有效需要分开判断。一百条样本全部完成、没有技术回退，但各新增条件尚未形成稳定收益。B0 为四十四点四一 mAP、七十一 Hit@1；P_pair 保持较高的 Hit@1，达到七十八。四态直接比较和决策记忆的 mAP 只比基线略高，决策记忆的端到端 token 已接近基线的二点九倍。最关键的是，均匀观察和定向观察两组的完整预测向量都与 B0 相同，而 token 约为三倍。因此本轮不能证明新增观察有效，精度门槛没有通过。下一步需要检查补到的证据为何未改变决策，而不仅是继续增加观察次数。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本周确认了一项容量收益，但没有把它等同于精度收益。十四份固定记忆在事实和来源可还原的前提下，从一万三千八百四十 token 降到一万零三百三十九，减少百分之二十五点三，同容量补回七十五个完整旧条目。这个结果还没有证明比较器理解更好。视觉方面，三十个物体存在性问题分别使用直接核查和证据优先提示，共六十次调用，两组状态完全一样；六个参考标签为无法判断的问题，全部被给出了确定判断。另有三十七次输出探针表明，取消字符上限可以让句子更完整，但物体和人物关系误判仍存在。这些参考标签来自助手审阅，没有独立人工核验，因此只能作为定位问题的小样本证据，不能解释为总体准确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TVSum 的迁移结果进一步说明，QV 上的复评收益没有直接推广到通用高光任务。在固定十条验证视频上，候选和输入帧保持相同，B0 的 Top-5 mAP 为六十一点三二，P_pair 降至五十八点三八，下降约二点九四个百分点。四态直接比较和决策记忆都保持基线得分，两组合计四百次比较没有产生确定胜负。这一轮六百七十次调用已经完成，没有继续追加实验。接下来两页是基于既有轨迹的离线诊断，目的是区分已经查实的错误和仍待检验的原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第一项查实的问题发生在任务解析。TVSum 使用的是通用请求，要求找出这个视频的高光；但十条 TaskSpec 都把 Highlight of this video 误提取成了对象约束，仿佛画面里应该出现一个叫这个名字的对象。这个伪约束进入了全部四百次四态比较输入。错误及其传播已经复现，但不能因此直接断言它就是没有胜负的原因，仍需只删除该字段的单变量实验。还要特别区分，P_pair 不使用 TaskSpec，所以它的指标下降不能归因于这个错误。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发现是记忆证据的主要损失位置。四百四十八条事实记录中，有三百零五条在草稿选择阶段就没有被选入，进入草稿的是一百四十三条，随后只有十三条因为容量限制被移除，最终保留一百三十条。原有一百八十五条 unknown 最后只保留九条。因此，不能把证据损失主要归因于一千零二十四 token 的容量，草稿如何选择事实也需要独立检查。抽查还确认，可疑视觉描述确实进入了记忆比较，但相关比较都是并列，尚未证明导致排序下降。图中节点等宽，只表示处理阶段；CPU 契约检查也不能当作新的模型预测。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建议的下一轮非常克制：唯一改动是删除通用任务中的错误对象约束，保留原来的高光任务意图。原十条视频必须完整保留，候选、旧帧、记忆内容、比较器、排序和评价全部固定。直接比较和记忆比较各二百次，沿用旧预测作为对照，目前四百份待验证输入已经准备好，但没有新模型结果。评价时既要报告完整子集的精度，也要看错误改判、证据是否充分、合理并列和成本；不能按标注挑有利子集，也不能为了降低并列率而强迫模型分出胜负。这样才能判断错误约束是否影响了排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执行条件需要和科学计划一起说明。QV 原诊断累计七百九十七次请求，上限一千次，消耗三十九万八千九百二十九 token，约零点五四 GPU 小时。TVSum 迁移已经用完六百七十次请求，消耗一百一十万六千九百三十二 token，约零点五八四 GPU 小时。即使 GPU 时间还有剩余，也不代表可以追加请求，QV 的余量也不能转给 TVSum。新对照建议独立设置四百次总尝试，不增加故障调用或重试，绝对上限为二百四十五万七千六百 token 和一个 GPU 小时。当前尚未授权、未启动，需要独立预算确认及新运行器审查。表中的两个账本不是全周实验总成本，本次离线诊断和汇报制作没有新增实验模型调用。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后续推进顺序是，先检验任务理解，再独立处理视觉证据和记忆保留，最后进入独立确认与长视频闭环。第一步完成 TVSum 的单变量对照。第二步检验局部细节和短时连续画面是否补足证据，以及不确定性和动作差异能否被保留下来，再评估记忆的作用。观察内容通过后，按原门槛复核 QV 一百条，然后开展独立确认和长视频 Agent 验收。我们目前还不能宣称完整记忆或回看框架带来稳定收益。此次组会希望讨论的是，是否优先给这四百次独立对照分配预算，让下一轮围绕一个可证伪的问题推进。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alue_weekly_taskspec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alue_weekly_taskspec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001.xml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0550" y="393700"/>
            <a:ext cx="3104864" cy="1195705"/>
            <a:chOff x="590550" y="393700"/>
            <a:chExt cx="3104864" cy="1195705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393700"/>
              <a:ext cx="27770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ReVALUE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170" y="1149350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实验进度汇报 · 林逸飞</a:t>
              </a:r>
            </a:p>
          </p:txBody>
        </p:sp>
      </p:grpSp>
      <p:grpSp>
        <p:nvGrpSpPr>
          <p:cNvPr id="7" name="core-claim"/>
          <p:cNvGrpSpPr/>
          <p:nvPr/>
        </p:nvGrpSpPr>
        <p:grpSpPr>
          <a:xfrm>
            <a:off x="590550" y="2139950"/>
            <a:ext cx="3268980" cy="1847850"/>
            <a:chOff x="590550" y="2139950"/>
            <a:chExt cx="3268980" cy="18478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139950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基线已扩展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3054350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收益待验证</a:t>
              </a:r>
            </a:p>
          </p:txBody>
        </p:sp>
      </p:grpSp>
      <p:grpSp>
        <p:nvGrpSpPr>
          <p:cNvPr id="15" name="scope"/>
          <p:cNvGrpSpPr/>
          <p:nvPr/>
        </p:nvGrpSpPr>
        <p:grpSpPr>
          <a:xfrm>
            <a:off x="8858250" y="0"/>
            <a:ext cx="3333750" cy="6858000"/>
            <a:chOff x="8858250" y="0"/>
            <a:chExt cx="3333750" cy="6858000"/>
          </a:xfrm>
        </p:grpSpPr>
        <p:sp>
          <p:nvSpPr>
            <p:cNvPr id="8" name="Rectangle 8"/>
            <p:cNvSpPr/>
            <p:nvPr/>
          </p:nvSpPr>
          <p:spPr>
            <a:xfrm>
              <a:off x="8858250" y="0"/>
              <a:ext cx="33337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65920" y="2025650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REZE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8206" y="25082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跨数据集复现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277350" y="318135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0" y="3492500"/>
              <a:ext cx="13067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ReVALUE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68206" y="39751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记忆与回看验证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9730" y="58610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研究进度 · 组会讨论</a:t>
              </a:r>
            </a:p>
          </p:txBody>
        </p:sp>
      </p:grpSp>
      <p:grpSp>
        <p:nvGrpSpPr>
          <p:cNvPr id="19" name="period"/>
          <p:cNvGrpSpPr/>
          <p:nvPr/>
        </p:nvGrpSpPr>
        <p:grpSpPr>
          <a:xfrm>
            <a:off x="598170" y="4711700"/>
            <a:ext cx="4624578" cy="1271270"/>
            <a:chOff x="598170" y="4711700"/>
            <a:chExt cx="4624578" cy="1271270"/>
          </a:xfrm>
        </p:grpSpPr>
        <p:sp>
          <p:nvSpPr>
            <p:cNvPr id="16" name="TextBox 16"/>
            <p:cNvSpPr txBox="1"/>
            <p:nvPr/>
          </p:nvSpPr>
          <p:spPr>
            <a:xfrm>
              <a:off x="598170" y="4711700"/>
              <a:ext cx="28216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2026.10.21–10.27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25145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新增记忆与定向回看，尚无稳定精度收益。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5689600"/>
              <a:ext cx="4296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承接 10.13–10.20 周报 · 结果截至 10 月 27 日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3504" y="6334125"/>
            <a:ext cx="44319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MERIT / ReVALUE · 周报源文与专项报告均保存在项目 docs/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703820" cy="885190"/>
            <a:chOff x="594360" y="428625"/>
            <a:chExt cx="770382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本周总览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本周完成三条工作线，下一步聚焦一个假设</a:t>
              </a:r>
            </a:p>
          </p:txBody>
        </p:sp>
      </p:grpSp>
      <p:grpSp>
        <p:nvGrpSpPr>
          <p:cNvPr id="8" name="baseline-work"/>
          <p:cNvGrpSpPr/>
          <p:nvPr/>
        </p:nvGrpSpPr>
        <p:grpSpPr>
          <a:xfrm>
            <a:off x="590550" y="1660525"/>
            <a:ext cx="9599426" cy="933450"/>
            <a:chOff x="590550" y="1660525"/>
            <a:chExt cx="9599426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66052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99082" y="17843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跨数据集基线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0606" y="2241550"/>
              <a:ext cx="8389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MR.HiSum 1,888 条 · TVSum 50 视频 · QFVS 180 查询 · SVHighlights 7 场</a:t>
              </a:r>
            </a:p>
          </p:txBody>
        </p:sp>
      </p:grpSp>
      <p:grpSp>
        <p:nvGrpSpPr>
          <p:cNvPr id="12" name="module-work"/>
          <p:cNvGrpSpPr/>
          <p:nvPr/>
        </p:nvGrpSpPr>
        <p:grpSpPr>
          <a:xfrm>
            <a:off x="590550" y="2860675"/>
            <a:ext cx="7925181" cy="933450"/>
            <a:chOff x="590550" y="2860675"/>
            <a:chExt cx="7925181" cy="93345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286067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9082" y="29845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记忆与观察模块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0606" y="3441700"/>
              <a:ext cx="6715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QV 修复版 R2 完成 100/100，零技术回退；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精度门槛未通过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6" name="diagnosis-work"/>
          <p:cNvGrpSpPr/>
          <p:nvPr/>
        </p:nvGrpSpPr>
        <p:grpSpPr>
          <a:xfrm>
            <a:off x="590550" y="4060825"/>
            <a:ext cx="7615885" cy="933450"/>
            <a:chOff x="590550" y="4060825"/>
            <a:chExt cx="7615885" cy="933450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06082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9082" y="41846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迁移与离线诊断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0606" y="4641850"/>
              <a:ext cx="6405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TVSum 迁移完成，定位错误任务约束和记忆草稿选择损失。</a:t>
              </a:r>
            </a:p>
          </p:txBody>
        </p:sp>
      </p:grpSp>
      <p:grpSp>
        <p:nvGrpSpPr>
          <p:cNvPr id="19" name="next-decision"/>
          <p:cNvGrpSpPr/>
          <p:nvPr/>
        </p:nvGrpSpPr>
        <p:grpSpPr>
          <a:xfrm>
            <a:off x="609600" y="5381625"/>
            <a:ext cx="10972800" cy="676275"/>
            <a:chOff x="609600" y="5381625"/>
            <a:chExt cx="10972800" cy="676275"/>
          </a:xfrm>
        </p:grpSpPr>
        <p:sp>
          <p:nvSpPr>
            <p:cNvPr id="17" name="Rectangle 17"/>
            <p:cNvSpPr/>
            <p:nvPr/>
          </p:nvSpPr>
          <p:spPr>
            <a:xfrm>
              <a:off x="609600" y="5381625"/>
              <a:ext cx="10972800" cy="6762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532" y="554672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下一步：只删除伪对象约束。协议已准备，独立预算待授权。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334125"/>
              <a:ext cx="4777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来源：10.21–10.27 周报 · 不同数据集的指标与实验范围分别解释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928900" cy="885190"/>
            <a:chOff x="594360" y="428625"/>
            <a:chExt cx="79289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方法边界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9289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局部模块已测试，完整 Agent 闭环仍待验收</a:t>
              </a:r>
            </a:p>
          </p:txBody>
        </p:sp>
      </p:grpSp>
      <p:grpSp>
        <p:nvGrpSpPr>
          <p:cNvPr id="29" name="main-pipeline"/>
          <p:cNvGrpSpPr/>
          <p:nvPr/>
        </p:nvGrpSpPr>
        <p:grpSpPr>
          <a:xfrm>
            <a:off x="601980" y="1765300"/>
            <a:ext cx="10980420" cy="1692275"/>
            <a:chOff x="601980" y="1765300"/>
            <a:chExt cx="10980420" cy="1692275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65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当前主流程（整理）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609600" y="2143125"/>
              <a:ext cx="190500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2876550" y="2143125"/>
              <a:ext cx="180975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48250" y="2143125"/>
              <a:ext cx="2095500" cy="1314450"/>
            </a:xfrm>
            <a:prstGeom prst="flowChartProcess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505700" y="2143125"/>
              <a:ext cx="180975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677400" y="2143125"/>
              <a:ext cx="190500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552700" y="2800350"/>
              <a:ext cx="7067550" cy="1"/>
              <a:chOff x="2552700" y="2800350"/>
              <a:chExt cx="7067550" cy="1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55270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72440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718185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935355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947166" y="2419350"/>
              <a:ext cx="10297668" cy="736219"/>
              <a:chOff x="947166" y="2419350"/>
              <a:chExt cx="10297668" cy="73621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257239" y="2419350"/>
                <a:ext cx="6097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REZE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7166" y="280352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密集初始化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15836" y="2419350"/>
                <a:ext cx="7311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Top-5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87649" y="28035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候选片段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16799" y="24320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四态比较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48836" y="28416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胜 / 负 / 并列 / 不足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14966" y="24320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分数与排序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016490" y="28416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输出高光结果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238750" y="2324100"/>
              <a:ext cx="1714500" cy="1049020"/>
              <a:chOff x="5238750" y="2324100"/>
              <a:chExt cx="1714500" cy="104902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519185" y="2324100"/>
                <a:ext cx="1153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TaskSpec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38750" y="269875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事实与决策记忆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82590" y="30797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本周局部验证</a:t>
                </a:r>
              </a:p>
            </p:txBody>
          </p:sp>
        </p:grpSp>
      </p:grpSp>
      <p:grpSp>
        <p:nvGrpSpPr>
          <p:cNvPr id="32" name="observation-scope"/>
          <p:cNvGrpSpPr/>
          <p:nvPr/>
        </p:nvGrpSpPr>
        <p:grpSpPr>
          <a:xfrm>
            <a:off x="598932" y="4013200"/>
            <a:ext cx="8093735" cy="799719"/>
            <a:chOff x="598932" y="4013200"/>
            <a:chExt cx="8093735" cy="799719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40132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观察分支的实际状态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0456" y="4460875"/>
              <a:ext cx="80922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QV R2 仅 7 条触发配对观察；模型规划为空，动作由预设控制器规则产生。</a:t>
              </a:r>
            </a:p>
          </p:txBody>
        </p:sp>
      </p:grpSp>
      <p:grpSp>
        <p:nvGrpSpPr>
          <p:cNvPr id="36" name="remaining-scope"/>
          <p:cNvGrpSpPr/>
          <p:nvPr/>
        </p:nvGrpSpPr>
        <p:grpSpPr>
          <a:xfrm>
            <a:off x="609600" y="5219700"/>
            <a:ext cx="10972800" cy="838200"/>
            <a:chOff x="609600" y="5219700"/>
            <a:chExt cx="10972800" cy="838200"/>
          </a:xfrm>
        </p:grpSpPr>
        <p:sp>
          <p:nvSpPr>
            <p:cNvPr id="33" name="Rectangle 33"/>
            <p:cNvSpPr/>
            <p:nvPr/>
          </p:nvSpPr>
          <p:spPr>
            <a:xfrm>
              <a:off x="609600" y="5219700"/>
              <a:ext cx="109728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9056" y="532765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待验收：自主连续补证、事件发现、边界细化、集合选择。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580" y="5718175"/>
              <a:ext cx="6024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仍依赖 REZE 初始化与旧帧；尚未证明 memory-only 的成本优势。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334125"/>
              <a:ext cx="3744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 当前实验方案（10.26）、本周周报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594360" y="314325"/>
            <a:ext cx="7235495" cy="1260094"/>
            <a:chOff x="594360" y="314325"/>
            <a:chExt cx="7235495" cy="126009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14325"/>
              <a:ext cx="1505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ReVALUE / 模块说明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650875"/>
              <a:ext cx="7235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TaskSpec：把“想看什么”转成任务约束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22237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一次纯文本模型调用，生成后续比较使用的任务说明</a:t>
              </a:r>
            </a:p>
          </p:txBody>
        </p:sp>
      </p:grpSp>
      <p:grpSp>
        <p:nvGrpSpPr>
          <p:cNvPr id="9" name="query-input"/>
          <p:cNvGrpSpPr/>
          <p:nvPr/>
        </p:nvGrpSpPr>
        <p:grpSpPr>
          <a:xfrm>
            <a:off x="598932" y="2032000"/>
            <a:ext cx="2301621" cy="2750820"/>
            <a:chOff x="598932" y="2032000"/>
            <a:chExt cx="2301621" cy="275082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2032000"/>
              <a:ext cx="15677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用户请求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2619375"/>
              <a:ext cx="2301621" cy="1229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“找出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穿绿色衣服的女子</a:t>
              </a:r>
              <a:b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跳舞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的精彩片段。”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4098925"/>
              <a:ext cx="1929765" cy="6838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7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输入：自然语言 query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示意解析，非实测输出</a:t>
              </a:r>
            </a:p>
          </p:txBody>
        </p:sp>
      </p:grpSp>
      <p:grpSp>
        <p:nvGrpSpPr>
          <p:cNvPr id="11" name="query-to-task"/>
          <p:cNvGrpSpPr/>
          <p:nvPr/>
        </p:nvGrpSpPr>
        <p:grpSpPr>
          <a:xfrm>
            <a:off x="3314700" y="3448050"/>
            <a:ext cx="304800" cy="1"/>
            <a:chOff x="3314700" y="3448050"/>
            <a:chExt cx="304800" cy="1"/>
          </a:xfrm>
        </p:grpSpPr>
        <p:sp>
          <p:nvSpPr>
            <p:cNvPr id="10" name="Line 10"/>
            <p:cNvSpPr/>
            <p:nvPr/>
          </p:nvSpPr>
          <p:spPr>
            <a:xfrm>
              <a:off x="3314700" y="3448050"/>
              <a:ext cx="304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23" name="taskspec-contract"/>
          <p:cNvGrpSpPr/>
          <p:nvPr/>
        </p:nvGrpSpPr>
        <p:grpSpPr>
          <a:xfrm>
            <a:off x="3733800" y="1924050"/>
            <a:ext cx="4114800" cy="3333750"/>
            <a:chOff x="3733800" y="1924050"/>
            <a:chExt cx="4114800" cy="3333750"/>
          </a:xfrm>
        </p:grpSpPr>
        <p:sp>
          <p:nvSpPr>
            <p:cNvPr id="12" name="Rectangle 12"/>
            <p:cNvSpPr/>
            <p:nvPr/>
          </p:nvSpPr>
          <p:spPr>
            <a:xfrm>
              <a:off x="3733800" y="1924050"/>
              <a:ext cx="4114800" cy="3333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89832" y="2041525"/>
              <a:ext cx="17673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TaskSpec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2880" y="2432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结构化任务说明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000500" y="27813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grpSp>
          <p:nvGrpSpPr>
            <p:cNvPr id="20" name="taskspec-fields"/>
            <p:cNvGrpSpPr/>
            <p:nvPr/>
          </p:nvGrpSpPr>
          <p:grpSpPr>
            <a:xfrm>
              <a:off x="3991356" y="2898775"/>
              <a:ext cx="3168396" cy="1466469"/>
              <a:chOff x="3991356" y="2898775"/>
              <a:chExt cx="3168396" cy="146646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991356" y="2898775"/>
                <a:ext cx="31441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类型：specific（具体请求）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91356" y="327025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目的：寻找该女子跳舞的高光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91356" y="3641725"/>
                <a:ext cx="295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对象：“穿绿色衣服的女子”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91356" y="4013200"/>
                <a:ext cx="14964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事件：“跳舞”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992880" y="447040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 / 时长：未指定 → 不添加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2880" y="4822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约束保留原文引用，便于核对</a:t>
              </a:r>
            </a:p>
          </p:txBody>
        </p:sp>
      </p:grpSp>
      <p:grpSp>
        <p:nvGrpSpPr>
          <p:cNvPr id="25" name="task-to-comparison"/>
          <p:cNvGrpSpPr/>
          <p:nvPr/>
        </p:nvGrpSpPr>
        <p:grpSpPr>
          <a:xfrm>
            <a:off x="7962900" y="3448050"/>
            <a:ext cx="304800" cy="1"/>
            <a:chOff x="7962900" y="3448050"/>
            <a:chExt cx="304800" cy="1"/>
          </a:xfrm>
        </p:grpSpPr>
        <p:sp>
          <p:nvSpPr>
            <p:cNvPr id="24" name="Line 24"/>
            <p:cNvSpPr/>
            <p:nvPr/>
          </p:nvSpPr>
          <p:spPr>
            <a:xfrm>
              <a:off x="7962900" y="3448050"/>
              <a:ext cx="304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37" name="comparison-use"/>
          <p:cNvGrpSpPr/>
          <p:nvPr/>
        </p:nvGrpSpPr>
        <p:grpSpPr>
          <a:xfrm>
            <a:off x="8371332" y="2032000"/>
            <a:ext cx="2441448" cy="2998470"/>
            <a:chOff x="8371332" y="2032000"/>
            <a:chExt cx="2441448" cy="2998470"/>
          </a:xfrm>
        </p:grpSpPr>
        <p:sp>
          <p:nvSpPr>
            <p:cNvPr id="26" name="TextBox 26"/>
            <p:cNvSpPr txBox="1"/>
            <p:nvPr/>
          </p:nvSpPr>
          <p:spPr>
            <a:xfrm>
              <a:off x="8371332" y="2032000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供比较器使用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4380" y="24701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结合候选画面与记忆</a:t>
              </a:r>
            </a:p>
          </p:txBody>
        </p:sp>
        <p:grpSp>
          <p:nvGrpSpPr>
            <p:cNvPr id="30" name="eligibility-use"/>
            <p:cNvGrpSpPr/>
            <p:nvPr/>
          </p:nvGrpSpPr>
          <p:grpSpPr>
            <a:xfrm>
              <a:off x="8372856" y="2927350"/>
              <a:ext cx="1956816" cy="617220"/>
              <a:chOff x="8372856" y="2927350"/>
              <a:chExt cx="1956816" cy="61722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72856" y="29273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核对是否符合请求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74380" y="325120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满足 / 违反 / 未知</a:t>
                </a:r>
              </a:p>
            </p:txBody>
          </p:sp>
        </p:grpSp>
        <p:grpSp>
          <p:nvGrpSpPr>
            <p:cNvPr id="33" name="value-use"/>
            <p:cNvGrpSpPr/>
            <p:nvPr/>
          </p:nvGrpSpPr>
          <p:grpSpPr>
            <a:xfrm>
              <a:off x="8372856" y="3670300"/>
              <a:ext cx="2439924" cy="617220"/>
              <a:chOff x="8372856" y="3670300"/>
              <a:chExt cx="2439924" cy="61722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72856" y="367030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比较相关高光价值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74380" y="3994150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选择与需求相关的价值维度</a:t>
                </a:r>
              </a:p>
            </p:txBody>
          </p:sp>
        </p:grpSp>
        <p:grpSp>
          <p:nvGrpSpPr>
            <p:cNvPr id="36" name="evidence-gap-use"/>
            <p:cNvGrpSpPr/>
            <p:nvPr/>
          </p:nvGrpSpPr>
          <p:grpSpPr>
            <a:xfrm>
              <a:off x="8372856" y="4413250"/>
              <a:ext cx="2036064" cy="617220"/>
              <a:chOff x="8372856" y="4413250"/>
              <a:chExt cx="2036064" cy="61722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8372856" y="441325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提出待查证的问题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74380" y="4737100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例：衣服是否为绿色？</a:t>
                </a:r>
              </a:p>
            </p:txBody>
          </p:sp>
        </p:grpSp>
      </p:grpSp>
      <p:grpSp>
        <p:nvGrpSpPr>
          <p:cNvPr id="42" name="module-boundary"/>
          <p:cNvGrpSpPr/>
          <p:nvPr/>
        </p:nvGrpSpPr>
        <p:grpSpPr>
          <a:xfrm>
            <a:off x="609600" y="5619750"/>
            <a:ext cx="10972800" cy="609600"/>
            <a:chOff x="609600" y="5619750"/>
            <a:chExt cx="10972800" cy="609600"/>
          </a:xfrm>
        </p:grpSpPr>
        <p:sp>
          <p:nvSpPr>
            <p:cNvPr id="38" name="Rectangle 38"/>
            <p:cNvSpPr/>
            <p:nvPr/>
          </p:nvSpPr>
          <p:spPr>
            <a:xfrm>
              <a:off x="609600" y="5619750"/>
              <a:ext cx="109728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056" y="5794375"/>
              <a:ext cx="2946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TaskSpec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记录“想看什么”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857875" y="57816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05906" y="5794375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记忆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记录“看到了什么”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603504" y="6400800"/>
            <a:ext cx="10984992" cy="234696"/>
            <a:chOff x="603504" y="640080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00800"/>
              <a:ext cx="4414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实现依据：schema.py · task_grounding.py · prompts.py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35132" y="64008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跨数据集基线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覆盖范围已扩大，各数据集指标分别解释</a:t>
              </a:r>
            </a:p>
          </p:txBody>
        </p:sp>
      </p:grpSp>
      <p:graphicFrame>
        <p:nvGraphicFramePr>
          <p:cNvPr id="5" name="benchmark-results"/>
          <p:cNvGraphicFramePr>
            <a:graphicFrameLocks noGrp="1"/>
          </p:cNvGraphicFramePr>
          <p:nvPr/>
        </p:nvGraphicFramePr>
        <p:xfrm>
          <a:off x="609600" y="1771650"/>
          <a:ext cx="10972800" cy="37909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05000"/>
                <a:gridCol w="2514600"/>
                <a:gridCol w="3276600"/>
                <a:gridCol w="3276600"/>
              </a:tblGrid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数据集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完成范围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主要指标（%）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范围与对照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MR.HiSum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1,888 / 2,000 条
94.4% 可用 test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mAP50/15：57.00 / 23.90
摘要 F1：38.27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常数评分＋同选择器
摘要 F1：56.61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TVSum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全 50 视频
主报固定 val10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val10 Top-5 mAP：61.32
all50：54.89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all50 为补充结果
两范围高于随机对照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QFVS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 个源视频
全部 180 查询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Oracle F1：42.34
概念＋分散：44.86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均匀选片：46.62
仍未超过同预算对照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SVHighlights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 场长视频
共 15.84 小时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HL-mAP：16.27
Hit1：14.29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小规模开发测试
非官方全集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7" name="scope-note"/>
          <p:cNvGrpSpPr/>
          <p:nvPr/>
        </p:nvGrpSpPr>
        <p:grpSpPr>
          <a:xfrm>
            <a:off x="601980" y="5851525"/>
            <a:ext cx="7001494" cy="293370"/>
            <a:chOff x="601980" y="5851525"/>
            <a:chExt cx="7001494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5851525"/>
              <a:ext cx="7001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指标不横比。TVHighlights 本地数据未就绪、无成绩；TVSum 是另一数据集。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6334125"/>
              <a:ext cx="7316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来源：MR.HiSum（10.21）、TVSum（10.22）、QFVS（10.25）、SVHighlights（10.27）专项报告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492240" cy="885190"/>
            <a:chOff x="594360" y="428625"/>
            <a:chExt cx="649224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QFVS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时间分散有改善，仍未超过均匀选片</a:t>
              </a:r>
            </a:p>
          </p:txBody>
        </p:sp>
      </p:grpSp>
      <p:grpSp>
        <p:nvGrpSpPr>
          <p:cNvPr id="6" name="metric-label"/>
          <p:cNvGrpSpPr/>
          <p:nvPr/>
        </p:nvGrpSpPr>
        <p:grpSpPr>
          <a:xfrm>
            <a:off x="601980" y="1717675"/>
            <a:ext cx="4169991" cy="293370"/>
            <a:chOff x="601980" y="1717675"/>
            <a:chExt cx="4169991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17675"/>
              <a:ext cx="4169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Oracle F1（%）· 全部 180 查询 · 4 个源视频</a:t>
              </a:r>
            </a:p>
          </p:txBody>
        </p:sp>
      </p:grpSp>
      <p:graphicFrame>
        <p:nvGraphicFramePr>
          <p:cNvPr id="7" name="qfvs-f1"/>
          <p:cNvGraphicFramePr>
            <a:graphicFrameLocks noGrp="1"/>
          </p:cNvGraphicFramePr>
          <p:nvPr/>
        </p:nvGraphicFramePr>
        <p:xfrm>
          <a:off x="609600" y="2095500"/>
          <a:ext cx="7524750" cy="3352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qfvs-reading"/>
          <p:cNvGrpSpPr/>
          <p:nvPr/>
        </p:nvGrpSpPr>
        <p:grpSpPr>
          <a:xfrm>
            <a:off x="8657082" y="2174875"/>
            <a:ext cx="2441448" cy="3179445"/>
            <a:chOff x="8657082" y="2174875"/>
            <a:chExt cx="2441448" cy="3179445"/>
          </a:xfrm>
        </p:grpSpPr>
        <p:sp>
          <p:nvSpPr>
            <p:cNvPr id="8" name="TextBox 8"/>
            <p:cNvSpPr txBox="1"/>
            <p:nvPr/>
          </p:nvSpPr>
          <p:spPr>
            <a:xfrm>
              <a:off x="8657082" y="21748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提示收益未推广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8606" y="2660650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概念提示单独使用，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没有高于原方法。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8606" y="3556000"/>
              <a:ext cx="20756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此前 4 条开发查询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上的收益，没有推广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到全部查询。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0130" y="50609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分别检查语义匹配与覆盖。</a:t>
              </a:r>
            </a:p>
          </p:txBody>
        </p:sp>
      </p:grpSp>
      <p:grpSp>
        <p:nvGrpSpPr>
          <p:cNvPr id="14" name="scope-note"/>
          <p:cNvGrpSpPr/>
          <p:nvPr/>
        </p:nvGrpSpPr>
        <p:grpSpPr>
          <a:xfrm>
            <a:off x="601980" y="5832475"/>
            <a:ext cx="7193852" cy="293370"/>
            <a:chOff x="601980" y="5832475"/>
            <a:chExt cx="7193852" cy="293370"/>
          </a:xfrm>
        </p:grpSpPr>
        <p:sp>
          <p:nvSpPr>
            <p:cNvPr id="13" name="TextBox 13"/>
            <p:cNvSpPr txBox="1"/>
            <p:nvPr/>
          </p:nvSpPr>
          <p:spPr>
            <a:xfrm>
              <a:off x="601980" y="5832475"/>
              <a:ext cx="7193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排除 4 条开发查询后的 176 条，仍来自同 4 个源视频，不能视为未见视频验证。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334125"/>
              <a:ext cx="4600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来源：reze_qfvs_full_results_2026-10-25.md · 同预算对照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002285" cy="885190"/>
            <a:chOff x="594360" y="428625"/>
            <a:chExt cx="7002285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206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QVHighlights · 候选对照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0022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候选分散未过门槛，后续保留原 Top-5</a:t>
              </a:r>
            </a:p>
          </p:txBody>
        </p:sp>
      </p:grpSp>
      <p:grpSp>
        <p:nvGrpSpPr>
          <p:cNvPr id="9" name="candidate-delta"/>
          <p:cNvGrpSpPr/>
          <p:nvPr/>
        </p:nvGrpSpPr>
        <p:grpSpPr>
          <a:xfrm>
            <a:off x="590550" y="2032000"/>
            <a:ext cx="3600145" cy="2257044"/>
            <a:chOff x="590550" y="2032000"/>
            <a:chExt cx="3600145" cy="2257044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2032000"/>
              <a:ext cx="2574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固定开发 100 条 · mAP 变化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70150"/>
              <a:ext cx="36001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+0.0798 pp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3375025"/>
              <a:ext cx="25939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低于预设 +1 pp 门槛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937000"/>
              <a:ext cx="2466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Hit@1 同时下降 1 pp。</a:t>
              </a:r>
            </a:p>
          </p:txBody>
        </p:sp>
      </p:grpSp>
      <p:graphicFrame>
        <p:nvGraphicFramePr>
          <p:cNvPr id="10" name="candidate-results"/>
          <p:cNvGraphicFramePr>
            <a:graphicFrameLocks noGrp="1"/>
          </p:cNvGraphicFramePr>
          <p:nvPr/>
        </p:nvGraphicFramePr>
        <p:xfrm>
          <a:off x="5810250" y="2009775"/>
          <a:ext cx="5772150" cy="2057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7900"/>
                <a:gridCol w="1714500"/>
                <a:gridCol w="180975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候选策略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mAP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Hit@1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原 Top-5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44.58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78.00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分散候选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44.66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77.00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5" name="previous-week"/>
          <p:cNvGrpSpPr/>
          <p:nvPr/>
        </p:nvGrpSpPr>
        <p:grpSpPr>
          <a:xfrm>
            <a:off x="609600" y="4772025"/>
            <a:ext cx="10972800" cy="1228725"/>
            <a:chOff x="609600" y="4772025"/>
            <a:chExt cx="10972800" cy="1228725"/>
          </a:xfrm>
        </p:grpSpPr>
        <p:sp>
          <p:nvSpPr>
            <p:cNvPr id="11" name="Rectangle 11"/>
            <p:cNvSpPr/>
            <p:nvPr/>
          </p:nvSpPr>
          <p:spPr>
            <a:xfrm>
              <a:off x="609600" y="4772025"/>
              <a:ext cx="10972800" cy="12287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580" y="4927600"/>
              <a:ext cx="4378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上周背景 · 10 月 20 日完成 · QV 完整 val1550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056" y="5280025"/>
              <a:ext cx="7419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P_pair：43.76 mAP / 76.84 Hit@1；相对 B0：+0.77 / +5.16 pp。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5661025"/>
              <a:ext cx="6123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这项结果不计入本周新增实验，也不能与开发 100 条直接比较均值。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334125"/>
              <a:ext cx="5519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 执行方案 v3（10.23）、REZE 完整 val1550 报告（10.20）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283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QVHighlights · 修复版 R2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运行已修复，记忆与回看尚无稳定收益</a:t>
              </a:r>
            </a:p>
          </p:txBody>
        </p:sp>
      </p:grpSp>
      <p:grpSp>
        <p:nvGrpSpPr>
          <p:cNvPr id="6" name="run-scope"/>
          <p:cNvGrpSpPr/>
          <p:nvPr/>
        </p:nvGrpSpPr>
        <p:grpSpPr>
          <a:xfrm>
            <a:off x="601980" y="1555750"/>
            <a:ext cx="5437061" cy="293370"/>
            <a:chOff x="601980" y="1555750"/>
            <a:chExt cx="5437061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555750"/>
              <a:ext cx="5437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开发 100 条 · 100/100 完成 · 零技术回退 · 精度门槛未通过</a:t>
              </a:r>
            </a:p>
          </p:txBody>
        </p:sp>
      </p:grpSp>
      <p:graphicFrame>
        <p:nvGraphicFramePr>
          <p:cNvPr id="7" name="r2-results"/>
          <p:cNvGraphicFramePr>
            <a:graphicFrameLocks noGrp="1"/>
          </p:cNvGraphicFramePr>
          <p:nvPr/>
        </p:nvGraphicFramePr>
        <p:xfrm>
          <a:off x="609600" y="2009775"/>
          <a:ext cx="10972800" cy="34480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95750"/>
                <a:gridCol w="2324100"/>
                <a:gridCol w="2095500"/>
                <a:gridCol w="245745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条件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VeryGood mAP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Hit@1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token / B0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原 REZE B0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1.00×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双向复评 P_pair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44.58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78.00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1.56×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四态直接比较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44.42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72.00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2.02×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决策记忆（无新增观察）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44.49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73.00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2.89×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记忆＋均匀观察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3.03×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记忆＋定向观察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3.03×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" name="result-reading"/>
          <p:cNvGrpSpPr/>
          <p:nvPr/>
        </p:nvGrpSpPr>
        <p:grpSpPr>
          <a:xfrm>
            <a:off x="598932" y="5765800"/>
            <a:ext cx="8109734" cy="410718"/>
            <a:chOff x="598932" y="5765800"/>
            <a:chExt cx="810973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5765800"/>
              <a:ext cx="81097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两观察组的完整预测向量与 B0 相同，端到端 token 约为 3 倍。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334125"/>
              <a:ext cx="7273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来源：revalue_current_experiment_plan_2026-10-26.md · 精度为 %，成本为端到端 token 比值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机制诊断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容量已改善，视觉证据可靠性仍是瓶颈</a:t>
              </a:r>
            </a:p>
          </p:txBody>
        </p:sp>
      </p:grpSp>
      <p:grpSp>
        <p:nvGrpSpPr>
          <p:cNvPr id="10" name="memory-capacity"/>
          <p:cNvGrpSpPr/>
          <p:nvPr/>
        </p:nvGrpSpPr>
        <p:grpSpPr>
          <a:xfrm>
            <a:off x="590550" y="1879600"/>
            <a:ext cx="3777234" cy="3208020"/>
            <a:chOff x="590550" y="1879600"/>
            <a:chExt cx="3777234" cy="320802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7960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记忆容量：收益已确认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32050"/>
              <a:ext cx="278596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−25.30%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3267075"/>
              <a:ext cx="26353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13,840 → 10,339 token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727450"/>
              <a:ext cx="376732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 份固定记忆，事实与来源可还原；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同容量补回 75 个完整旧条目。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47942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尚未验证比较器理解或高光精度收益。</a:t>
              </a:r>
            </a:p>
          </p:txBody>
        </p:sp>
      </p:grpSp>
      <p:grpSp>
        <p:nvGrpSpPr>
          <p:cNvPr id="16" name="visual-uncertainty"/>
          <p:cNvGrpSpPr/>
          <p:nvPr/>
        </p:nvGrpSpPr>
        <p:grpSpPr>
          <a:xfrm>
            <a:off x="6477000" y="1879600"/>
            <a:ext cx="4171798" cy="3341370"/>
            <a:chOff x="6477000" y="1879600"/>
            <a:chExt cx="4171798" cy="3341370"/>
          </a:xfrm>
        </p:grpSpPr>
        <p:sp>
          <p:nvSpPr>
            <p:cNvPr id="11" name="TextBox 11"/>
            <p:cNvSpPr txBox="1"/>
            <p:nvPr/>
          </p:nvSpPr>
          <p:spPr>
            <a:xfrm>
              <a:off x="6485382" y="187960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视觉不确定性：仍未改善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7000" y="2432050"/>
              <a:ext cx="156469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/ 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6906" y="327977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参考“无法判断”中保留不确定性的数量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3727450"/>
              <a:ext cx="392734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个问题 × 2 种提示，共 60 次调用；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两组判断完全相同。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8430" y="4651375"/>
              <a:ext cx="2567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 次输出探针：句子更完整，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仍存在物体和人物关系误判。</a:t>
              </a:r>
            </a:p>
          </p:txBody>
        </p:sp>
      </p:grpSp>
      <p:grpSp>
        <p:nvGrpSpPr>
          <p:cNvPr id="19" name="evidence-limits"/>
          <p:cNvGrpSpPr/>
          <p:nvPr/>
        </p:nvGrpSpPr>
        <p:grpSpPr>
          <a:xfrm>
            <a:off x="609600" y="5534025"/>
            <a:ext cx="10972800" cy="619125"/>
            <a:chOff x="609600" y="5534025"/>
            <a:chExt cx="10972800" cy="619125"/>
          </a:xfrm>
        </p:grpSpPr>
        <p:sp>
          <p:nvSpPr>
            <p:cNvPr id="17" name="Rectangle 17"/>
            <p:cNvSpPr/>
            <p:nvPr/>
          </p:nvSpPr>
          <p:spPr>
            <a:xfrm>
              <a:off x="609600" y="5534025"/>
              <a:ext cx="10972800" cy="619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9818" y="5721350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视觉参考标签来自助手审阅，尚无独立人工核验；小样本读数不能当作总体准确率。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334125"/>
              <a:ext cx="5423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来源：记忆压缩与输出探针报告（10.26）、物体存在性核查报告（10.27）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338327" cy="885190"/>
            <a:chOff x="594360" y="428625"/>
            <a:chExt cx="7338327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253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迁移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33832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复评下降 2.94 pp，记忆未改变基线排序</a:t>
              </a:r>
            </a:p>
          </p:txBody>
        </p:sp>
      </p:grpSp>
      <p:grpSp>
        <p:nvGrpSpPr>
          <p:cNvPr id="6" name="metric-label"/>
          <p:cNvGrpSpPr/>
          <p:nvPr/>
        </p:nvGrpSpPr>
        <p:grpSpPr>
          <a:xfrm>
            <a:off x="601980" y="1717675"/>
            <a:ext cx="4576572" cy="293370"/>
            <a:chOff x="601980" y="1717675"/>
            <a:chExt cx="4576572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17675"/>
              <a:ext cx="4576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Top-5 mAP（%）· 固定 val10 · 候选与输入帧固定</a:t>
              </a:r>
            </a:p>
          </p:txBody>
        </p:sp>
      </p:grpSp>
      <p:graphicFrame>
        <p:nvGraphicFramePr>
          <p:cNvPr id="7" name="tvsum-map"/>
          <p:cNvGraphicFramePr>
            <a:graphicFrameLocks noGrp="1"/>
          </p:cNvGraphicFramePr>
          <p:nvPr/>
        </p:nvGraphicFramePr>
        <p:xfrm>
          <a:off x="609600" y="2095500"/>
          <a:ext cx="7810500" cy="3352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transfer-reading"/>
          <p:cNvGrpSpPr/>
          <p:nvPr/>
        </p:nvGrpSpPr>
        <p:grpSpPr>
          <a:xfrm>
            <a:off x="8839200" y="2146300"/>
            <a:ext cx="1903933" cy="2990469"/>
            <a:chOff x="8839200" y="2146300"/>
            <a:chExt cx="1903933" cy="2990469"/>
          </a:xfrm>
        </p:grpSpPr>
        <p:sp>
          <p:nvSpPr>
            <p:cNvPr id="8" name="TextBox 8"/>
            <p:cNvSpPr txBox="1"/>
            <p:nvPr/>
          </p:nvSpPr>
          <p:spPr>
            <a:xfrm>
              <a:off x="8850630" y="2146300"/>
              <a:ext cx="1401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P_pair 相对 B0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39200" y="2460625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4442"/>
                  </a:solidFill>
                  <a:latin typeface="+mn-lt"/>
                  <a:ea typeface="+mn-ea"/>
                  <a:cs typeface="+mn-cs"/>
                </a:rPr>
                <a:t>−2.94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49106" y="321310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百分点（pp）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47582" y="3984625"/>
              <a:ext cx="14482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次比较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49106" y="4441825"/>
              <a:ext cx="1847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直接与记忆两组，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没有确定胜负。</a:t>
              </a:r>
            </a:p>
          </p:txBody>
        </p:sp>
      </p:grpSp>
      <p:grpSp>
        <p:nvGrpSpPr>
          <p:cNvPr id="15" name="transfer-scope"/>
          <p:cNvGrpSpPr/>
          <p:nvPr/>
        </p:nvGrpSpPr>
        <p:grpSpPr>
          <a:xfrm>
            <a:off x="601980" y="5832475"/>
            <a:ext cx="6868858" cy="293370"/>
            <a:chOff x="601980" y="5832475"/>
            <a:chExt cx="6868858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601980" y="5832475"/>
              <a:ext cx="686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QV 上的收益未直接迁移。该轮 670 次调用已完成；当前没有追加实验结果。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334125"/>
              <a:ext cx="439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来源：revalue_tvsum_transfer_results_2026-10-27.md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5280660" cy="885190"/>
            <a:chOff x="594360" y="428625"/>
            <a:chExt cx="52806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880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· 来源链审计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通用请求被误提取成对象约束</a:t>
              </a:r>
            </a:p>
          </p:txBody>
        </p:sp>
      </p:grpSp>
      <p:grpSp>
        <p:nvGrpSpPr>
          <p:cNvPr id="18" name="constraint-chain"/>
          <p:cNvGrpSpPr/>
          <p:nvPr/>
        </p:nvGrpSpPr>
        <p:grpSpPr>
          <a:xfrm>
            <a:off x="609600" y="2152650"/>
            <a:ext cx="10972800" cy="1638300"/>
            <a:chOff x="609600" y="2152650"/>
            <a:chExt cx="10972800" cy="1638300"/>
          </a:xfrm>
        </p:grpSpPr>
        <p:sp>
          <p:nvSpPr>
            <p:cNvPr id="5" name="Rectangle 5"/>
            <p:cNvSpPr/>
            <p:nvPr/>
          </p:nvSpPr>
          <p:spPr>
            <a:xfrm>
              <a:off x="609600" y="2152650"/>
              <a:ext cx="29337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324350" y="2152650"/>
              <a:ext cx="2933700" cy="163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39100" y="2152650"/>
              <a:ext cx="35433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3638550" y="2971800"/>
              <a:ext cx="4286250" cy="1"/>
              <a:chOff x="3638550" y="2971800"/>
              <a:chExt cx="4286250" cy="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638550" y="2971800"/>
                <a:ext cx="5715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353300" y="2971800"/>
                <a:ext cx="5715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27532" y="23177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通用高光请求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2911475"/>
              <a:ext cx="2511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Highlight of this video.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42282" y="2317750"/>
              <a:ext cx="2235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/ 10 解析错误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4568" y="2724150"/>
              <a:ext cx="2248471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对象约束被写成：</a:t>
              </a:r>
              <a:b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Highlight of this video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57032" y="2317750"/>
              <a:ext cx="20136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次四态比较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58556" y="28987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全部带入这个伪约束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60080" y="3355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没有产生确定胜负</a:t>
              </a:r>
            </a:p>
          </p:txBody>
        </p:sp>
      </p:grpSp>
      <p:grpSp>
        <p:nvGrpSpPr>
          <p:cNvPr id="21" name="causal-boundary"/>
          <p:cNvGrpSpPr/>
          <p:nvPr/>
        </p:nvGrpSpPr>
        <p:grpSpPr>
          <a:xfrm>
            <a:off x="598170" y="4483100"/>
            <a:ext cx="7055085" cy="948944"/>
            <a:chOff x="598170" y="4483100"/>
            <a:chExt cx="7055085" cy="948944"/>
          </a:xfrm>
        </p:grpSpPr>
        <p:sp>
          <p:nvSpPr>
            <p:cNvPr id="19" name="TextBox 19"/>
            <p:cNvSpPr txBox="1"/>
            <p:nvPr/>
          </p:nvSpPr>
          <p:spPr>
            <a:xfrm>
              <a:off x="598170" y="4483100"/>
              <a:ext cx="60807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错误已复现；是否导致比较失效，仍待检验。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5080000"/>
              <a:ext cx="7052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P_pair 不使用 TaskSpec，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不能用这个错误解释 P_pair 的下降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next-test"/>
          <p:cNvGrpSpPr/>
          <p:nvPr/>
        </p:nvGrpSpPr>
        <p:grpSpPr>
          <a:xfrm>
            <a:off x="601980" y="5842000"/>
            <a:ext cx="6275070" cy="293370"/>
            <a:chOff x="601980" y="5842000"/>
            <a:chExt cx="6275070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601980" y="584200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最小检验：只移除通用任务的伪对象约束，其余输入和评价保持固定。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334125"/>
              <a:ext cx="6263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来源：revalue_tvsum_offline_diagnosis_v1_2026-10-27.md · 零新增实验模型调用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042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· 记忆证据传播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主要损失在草稿选择，不能只归因于容量</a:t>
              </a:r>
            </a:p>
          </p:txBody>
        </p:sp>
      </p:grpSp>
      <p:grpSp>
        <p:nvGrpSpPr>
          <p:cNvPr id="20" name="memory-flow"/>
          <p:cNvGrpSpPr/>
          <p:nvPr/>
        </p:nvGrpSpPr>
        <p:grpSpPr>
          <a:xfrm>
            <a:off x="609600" y="2009775"/>
            <a:ext cx="10972800" cy="2193544"/>
            <a:chOff x="609600" y="2009775"/>
            <a:chExt cx="10972800" cy="2193544"/>
          </a:xfrm>
        </p:grpSpPr>
        <p:sp>
          <p:nvSpPr>
            <p:cNvPr id="5" name="Rectangle 5"/>
            <p:cNvSpPr/>
            <p:nvPr/>
          </p:nvSpPr>
          <p:spPr>
            <a:xfrm>
              <a:off x="609600" y="2009775"/>
              <a:ext cx="2743200" cy="16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724400" y="2009775"/>
              <a:ext cx="2743200" cy="16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39200" y="2009775"/>
              <a:ext cx="2743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3505200" y="2809875"/>
              <a:ext cx="5181600" cy="1"/>
              <a:chOff x="3505200" y="2809875"/>
              <a:chExt cx="5181600" cy="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505200" y="2809875"/>
                <a:ext cx="10668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620000" y="2809875"/>
                <a:ext cx="10668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245108" y="2232025"/>
              <a:ext cx="9544492" cy="1362075"/>
              <a:chOff x="1245108" y="2232025"/>
              <a:chExt cx="9544492" cy="136207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245108" y="223202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全部事实记录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24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448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59908" y="223202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进入记忆草稿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5172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717024" y="22320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最终保留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6320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130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151060" y="3851275"/>
              <a:ext cx="177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草稿遗漏 305 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32497" y="3851275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容量移除 13 条</a:t>
              </a:r>
            </a:p>
          </p:txBody>
        </p:sp>
      </p:grpSp>
      <p:grpSp>
        <p:nvGrpSpPr>
          <p:cNvPr id="24" name="unknown-loss"/>
          <p:cNvGrpSpPr/>
          <p:nvPr/>
        </p:nvGrpSpPr>
        <p:grpSpPr>
          <a:xfrm>
            <a:off x="609600" y="4562475"/>
            <a:ext cx="10972800" cy="619125"/>
            <a:chOff x="609600" y="4562475"/>
            <a:chExt cx="10972800" cy="619125"/>
          </a:xfrm>
        </p:grpSpPr>
        <p:sp>
          <p:nvSpPr>
            <p:cNvPr id="21" name="Rectangle 21"/>
            <p:cNvSpPr/>
            <p:nvPr/>
          </p:nvSpPr>
          <p:spPr>
            <a:xfrm>
              <a:off x="609600" y="4562475"/>
              <a:ext cx="10972800" cy="619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532" y="4699000"/>
              <a:ext cx="25006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unknown：185 → 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15306" y="473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不确定证据的保留需要独立检查。</a:t>
              </a:r>
            </a:p>
          </p:txBody>
        </p:sp>
      </p:grpSp>
      <p:grpSp>
        <p:nvGrpSpPr>
          <p:cNvPr id="26" name="causal-limit"/>
          <p:cNvGrpSpPr/>
          <p:nvPr/>
        </p:nvGrpSpPr>
        <p:grpSpPr>
          <a:xfrm>
            <a:off x="601980" y="5489575"/>
            <a:ext cx="7006590" cy="588645"/>
            <a:chOff x="601980" y="5489575"/>
            <a:chExt cx="7006590" cy="588645"/>
          </a:xfrm>
        </p:grpSpPr>
        <p:sp>
          <p:nvSpPr>
            <p:cNvPr id="25" name="TextBox 25"/>
            <p:cNvSpPr txBox="1"/>
            <p:nvPr/>
          </p:nvSpPr>
          <p:spPr>
            <a:xfrm>
              <a:off x="601980" y="5489575"/>
              <a:ext cx="70065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可疑视觉描述进入了记忆比较，但抽查相关比较均为 tie，尚未证明造成排序下降。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CPU 契约检查不等于新模型预测；阶段节点宽度不表示数量比例。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334125"/>
              <a:ext cx="4624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来源：revalue_tvsum_offline_diagnosis_v1_2026-10-27.md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下一步 · 最小单变量协议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只删除伪对象约束，检验它是否影响排序</a:t>
              </a:r>
            </a:p>
          </p:txBody>
        </p:sp>
      </p:grpSp>
      <p:grpSp>
        <p:nvGrpSpPr>
          <p:cNvPr id="11" name="single-change"/>
          <p:cNvGrpSpPr/>
          <p:nvPr/>
        </p:nvGrpSpPr>
        <p:grpSpPr>
          <a:xfrm>
            <a:off x="598170" y="1882775"/>
            <a:ext cx="5612130" cy="2719070"/>
            <a:chOff x="598170" y="1882775"/>
            <a:chExt cx="5612130" cy="2719070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8827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唯一改动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4987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原有：通用任务包含伪对象约束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930525"/>
              <a:ext cx="33345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对象 = “Highlight of this video”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45757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0456" y="372745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本轮：移除该约束，保留任务意图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4308475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直接比较 200 次＋记忆比较 200 次，沿用旧对照。</a:t>
              </a:r>
            </a:p>
          </p:txBody>
        </p:sp>
      </p:grpSp>
      <p:grpSp>
        <p:nvGrpSpPr>
          <p:cNvPr id="21" name="fixed-components"/>
          <p:cNvGrpSpPr/>
          <p:nvPr/>
        </p:nvGrpSpPr>
        <p:grpSpPr>
          <a:xfrm>
            <a:off x="7086600" y="1689100"/>
            <a:ext cx="2612593" cy="2866644"/>
            <a:chOff x="7086600" y="1689100"/>
            <a:chExt cx="2612593" cy="2866644"/>
          </a:xfrm>
        </p:grpSpPr>
        <p:sp>
          <p:nvSpPr>
            <p:cNvPr id="12" name="TextBox 12"/>
            <p:cNvSpPr txBox="1"/>
            <p:nvPr/>
          </p:nvSpPr>
          <p:spPr>
            <a:xfrm>
              <a:off x="7571232" y="16891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全部固定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086600" y="2114550"/>
              <a:ext cx="285750" cy="2400300"/>
            </a:xfrm>
            <a:prstGeom prst="leftBrace">
              <a:avLst/>
            </a:prstGeom>
            <a:noFill/>
            <a:ln w="19050">
              <a:solidFill>
                <a:srgbClr val="526575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572756" y="2203450"/>
              <a:ext cx="2126437" cy="2352294"/>
              <a:chOff x="7572756" y="2203450"/>
              <a:chExt cx="2126437" cy="235229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72756" y="2203450"/>
                <a:ext cx="21264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原 10 视频完整子集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72756" y="26035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候选片段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72756" y="30035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旧输入帧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72756" y="34036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记忆内容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72756" y="38036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比较器与排序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72756" y="42037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评价协议</a:t>
                </a:r>
              </a:p>
            </p:txBody>
          </p:sp>
        </p:grpSp>
      </p:grpSp>
      <p:grpSp>
        <p:nvGrpSpPr>
          <p:cNvPr id="25" name="protocol-state"/>
          <p:cNvGrpSpPr/>
          <p:nvPr/>
        </p:nvGrpSpPr>
        <p:grpSpPr>
          <a:xfrm>
            <a:off x="609600" y="5105400"/>
            <a:ext cx="10972800" cy="1000125"/>
            <a:chOff x="609600" y="5105400"/>
            <a:chExt cx="10972800" cy="1000125"/>
          </a:xfrm>
        </p:grpSpPr>
        <p:sp>
          <p:nvSpPr>
            <p:cNvPr id="22" name="Rectangle 22"/>
            <p:cNvSpPr/>
            <p:nvPr/>
          </p:nvSpPr>
          <p:spPr>
            <a:xfrm>
              <a:off x="609600" y="5105400"/>
              <a:ext cx="10972800" cy="1000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532" y="5222875"/>
              <a:ext cx="48406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份输入已准备，没有新模型结果。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580" y="5699125"/>
              <a:ext cx="764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报告全子集精度、错误改判、证据充分性、合理并列和成本；不按 GT 挑选有利子集。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334125"/>
              <a:ext cx="6546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来源：revalue_tvsum_taskspec_protocol_v1_2026-10-27.md · 状态：待授权、未启动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下一步 · 执行条件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旧预算分开记账，新对照仍需独立授权</a:t>
              </a:r>
            </a:p>
          </p:txBody>
        </p:sp>
      </p:grpSp>
      <p:graphicFrame>
        <p:nvGraphicFramePr>
          <p:cNvPr id="5" name="diagnostic-budgets"/>
          <p:cNvGraphicFramePr>
            <a:graphicFrameLocks noGrp="1"/>
          </p:cNvGraphicFramePr>
          <p:nvPr/>
        </p:nvGraphicFramePr>
        <p:xfrm>
          <a:off x="609600" y="1828800"/>
          <a:ext cx="10972800" cy="1905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71750"/>
                <a:gridCol w="2686050"/>
                <a:gridCol w="2762250"/>
                <a:gridCol w="295275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既有轮次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/ 上限请求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token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/ 上限 GPUh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QV 原诊断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797 / 1,000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398,929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0.5395 / 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TVSum 迁移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670 / 670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1,106,932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0.5840 / 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" name="proposed-budget"/>
          <p:cNvGrpSpPr/>
          <p:nvPr/>
        </p:nvGrpSpPr>
        <p:grpSpPr>
          <a:xfrm>
            <a:off x="590550" y="4114800"/>
            <a:ext cx="8753475" cy="1317625"/>
            <a:chOff x="590550" y="4114800"/>
            <a:chExt cx="8753475" cy="1317625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41656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新对照：待授权建议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4498975"/>
              <a:ext cx="219955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次总尝试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86731" y="4114800"/>
              <a:ext cx="3950208" cy="761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零额外故障调用 · 零重试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绝对上限：2,457,600 token · 1 GPUh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88255" y="50609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启动条件：独立预算授权＋新运行器审查通过。</a:t>
              </a:r>
            </a:p>
          </p:txBody>
        </p:sp>
      </p:grpSp>
      <p:grpSp>
        <p:nvGrpSpPr>
          <p:cNvPr id="12" name="accounting-limits"/>
          <p:cNvGrpSpPr/>
          <p:nvPr/>
        </p:nvGrpSpPr>
        <p:grpSpPr>
          <a:xfrm>
            <a:off x="601980" y="5584825"/>
            <a:ext cx="6273165" cy="579120"/>
            <a:chOff x="601980" y="5584825"/>
            <a:chExt cx="6273165" cy="579120"/>
          </a:xfrm>
        </p:grpSpPr>
        <p:sp>
          <p:nvSpPr>
            <p:cNvPr id="11" name="TextBox 11"/>
            <p:cNvSpPr txBox="1"/>
            <p:nvPr/>
          </p:nvSpPr>
          <p:spPr>
            <a:xfrm>
              <a:off x="601980" y="5584825"/>
              <a:ext cx="6273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TVSum 请求额度已耗尽；QV 余量不转移。以上账本不是全周实验总成本。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离线诊断与本次汇报制作新增实验模型调用均为 0。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603504" y="6334125"/>
              <a:ext cx="585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来源：当前方案、TVSum 迁移结果与单变量协议 · GPUh 为模型运行生命周期累计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508000"/>
            <a:ext cx="8332760" cy="977265"/>
            <a:chOff x="594360" y="508000"/>
            <a:chExt cx="8332760" cy="97726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508000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推进顺序与讨论事项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98525"/>
              <a:ext cx="83327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先验证证据是否改变排序，再扩大 Agent 实验</a:t>
              </a:r>
            </a:p>
          </p:txBody>
        </p:sp>
      </p:grpSp>
      <p:grpSp>
        <p:nvGrpSpPr>
          <p:cNvPr id="6" name="closing-takeaway"/>
          <p:cNvGrpSpPr/>
          <p:nvPr/>
        </p:nvGrpSpPr>
        <p:grpSpPr>
          <a:xfrm>
            <a:off x="590550" y="1873250"/>
            <a:ext cx="5853684" cy="933450"/>
            <a:chOff x="590550" y="1873250"/>
            <a:chExt cx="5853684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873250"/>
              <a:ext cx="58536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让证据真正改变排序</a:t>
              </a:r>
            </a:p>
          </p:txBody>
        </p:sp>
      </p:grpSp>
      <p:grpSp>
        <p:nvGrpSpPr>
          <p:cNvPr id="18" name="next-sequence"/>
          <p:cNvGrpSpPr/>
          <p:nvPr/>
        </p:nvGrpSpPr>
        <p:grpSpPr>
          <a:xfrm>
            <a:off x="598932" y="3317875"/>
            <a:ext cx="10623042" cy="1634744"/>
            <a:chOff x="598932" y="3317875"/>
            <a:chExt cx="10623042" cy="1634744"/>
          </a:xfrm>
        </p:grpSpPr>
        <p:grpSp>
          <p:nvGrpSpPr>
            <p:cNvPr id="9" name="Group 9"/>
            <p:cNvGrpSpPr/>
            <p:nvPr/>
          </p:nvGrpSpPr>
          <p:grpSpPr>
            <a:xfrm>
              <a:off x="3676650" y="3476625"/>
              <a:ext cx="4381500" cy="1"/>
              <a:chOff x="3676650" y="3476625"/>
              <a:chExt cx="4381500" cy="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3476625"/>
                <a:ext cx="514350" cy="1"/>
              </a:xfrm>
              <a:prstGeom prst="line">
                <a:avLst/>
              </a:prstGeom>
              <a:noFill/>
              <a:ln w="19050">
                <a:solidFill>
                  <a:schemeClr val="accent6"/>
                </a:solidFill>
                <a:tailEnd type="triangle" w="lg" len="lg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7543800" y="3476625"/>
                <a:ext cx="514350" cy="1"/>
              </a:xfrm>
              <a:prstGeom prst="line">
                <a:avLst/>
              </a:prstGeom>
              <a:noFill/>
              <a:ln w="19050">
                <a:solidFill>
                  <a:schemeClr val="accent6"/>
                </a:solidFill>
                <a:tailEnd type="triangle" w="lg" len="lg"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598932" y="3317875"/>
              <a:ext cx="10269564" cy="410718"/>
              <a:chOff x="598932" y="3317875"/>
              <a:chExt cx="10269564" cy="41071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98932" y="3317875"/>
                <a:ext cx="14044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 任务约束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66082" y="3317875"/>
                <a:ext cx="16871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 视觉与记忆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33232" y="3317875"/>
                <a:ext cx="253526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 独立确认与长视频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00456" y="3895725"/>
              <a:ext cx="10621518" cy="1056894"/>
              <a:chOff x="600456" y="3895725"/>
              <a:chExt cx="10621518" cy="105689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00456" y="3895725"/>
                <a:ext cx="207568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TVSum 单变量对照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仅移除错误对象约束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其余条件冻结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67606" y="3895725"/>
                <a:ext cx="253288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局部细节与短时连续画面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独立检验不确定性保留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再检验记忆证据的作用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34756" y="3895725"/>
                <a:ext cx="288721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观察内容通过后复核 QV 100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再做独立确认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与长视频闭环验收</a:t>
                </a:r>
              </a:p>
            </p:txBody>
          </p:sp>
        </p:grpSp>
      </p:grpSp>
      <p:grpSp>
        <p:nvGrpSpPr>
          <p:cNvPr id="21" name="decision"/>
          <p:cNvGrpSpPr/>
          <p:nvPr/>
        </p:nvGrpSpPr>
        <p:grpSpPr>
          <a:xfrm>
            <a:off x="598932" y="5638800"/>
            <a:ext cx="10983468" cy="566293"/>
            <a:chOff x="598932" y="5638800"/>
            <a:chExt cx="10983468" cy="566293"/>
          </a:xfrm>
        </p:grpSpPr>
        <p:sp>
          <p:nvSpPr>
            <p:cNvPr id="19" name="Line 19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2657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932" y="5794375"/>
              <a:ext cx="71913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讨论事项：优先开展 400 次独立对照，并确认相应预算。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334125"/>
              <a:ext cx="5520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目前尚无完整记忆／回看框架的稳定收益结论 · 2026.10.21–10.27 · 林逸飞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alue_weekly_taskspec_v2">
  <a:themeElements>
    <a:clrScheme name="revalue_weekly_taskspec_v2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weekly_taskspec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weekly_taskspec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alue_weekly_taskspec_v2">
  <a:themeElements>
    <a:clrScheme name="revalue_weekly_taskspec_v2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weekly_taskspec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weekly_taskspec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2026-10-27T10:05:10Z</dcterms:created>
  <dcterms:modified xsi:type="dcterms:W3CDTF">2026-10-27T10:05:10Z</dcterms:modified>
  <cp:category/>
  <cp:contentStatus/>
</cp:coreProperties>
</file>