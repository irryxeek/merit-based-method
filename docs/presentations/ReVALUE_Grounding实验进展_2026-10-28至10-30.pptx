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xlsx" ContentType="application/vnd.openxmlformats-officedocument.spreadsheetml.sheet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charts/chart701.xml" ContentType="application/vnd.openxmlformats-officedocument.drawingml.char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19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  <Relationship Id="rId19" Type="http://schemas.openxmlformats.org/officeDocument/2006/relationships/notesMaster" Target="notesMasters/notesMaster1.xml"/>
</Relationships>
</file>

<file path=ppt/charts/_rels/chart701.xml.rels><?xml version="1.0" encoding="UTF-8" standalone="yes"?>
<Relationships xmlns="http://schemas.openxmlformats.org/package/2006/relationships">
<Relationship Id="rId1" Type="http://schemas.openxmlformats.org/officeDocument/2006/relationships/package" Target="../embeddings/Microsoft_Excel_Sheet701.xlsx"/>
</Relationships>
</file>

<file path=ppt/charts/chart7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291823899371"/>
          <c:y val="0.0466321243523"/>
          <c:w val="0.641509433962"/>
          <c:h val="0.829015544041"/>
        </c:manualLayout>
      </c:layout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样本数</c:v>
                </c:pt>
              </c:strCache>
            </c:strRef>
          </c:tx>
          <c:spPr>
            <a:solidFill>
              <a:srgbClr val="4472C4"/>
            </a:solidFill>
            <a:ln>
              <a:solidFill>
                <a:srgbClr val="4472C4"/>
              </a:solidFill>
            </a:ln>
          </c:spPr>
          <c:invertIfNegative val="0"/>
          <c:dPt>
            <c:idx val="0"/>
            <c:invertIfNegative val="0"/>
            <c:spPr>
              <a:solidFill>
                <a:schemeClr val="accent1"/>
              </a:solidFill>
              <a:ln>
                <a:solidFill>
                  <a:schemeClr val="accent1"/>
                </a:solidFill>
              </a:ln>
            </c:spPr>
          </c:dPt>
          <c:dPt>
            <c:idx val="1"/>
            <c:invertIfNegative val="0"/>
            <c:spPr>
              <a:solidFill>
                <a:schemeClr val="accent2"/>
              </a:solidFill>
              <a:ln>
                <a:solidFill>
                  <a:schemeClr val="accent2"/>
                </a:solidFill>
              </a:ln>
            </c:spPr>
          </c:dPt>
          <c:dPt>
            <c:idx val="2"/>
            <c:invertIfNegative val="0"/>
            <c:spPr>
              <a:solidFill>
                <a:schemeClr val="accent3"/>
              </a:solidFill>
              <a:ln>
                <a:solidFill>
                  <a:schemeClr val="accent3"/>
                </a:solidFill>
              </a:ln>
            </c:spPr>
          </c:dPt>
          <c:dPt>
            <c:idx val="3"/>
            <c:invertIfNegative val="0"/>
            <c:spPr>
              <a:solidFill>
                <a:srgbClr val="7A8793"/>
              </a:solidFill>
              <a:ln>
                <a:solidFill>
                  <a:srgbClr val="7A8793"/>
                </a:solidFill>
              </a:ln>
            </c:spPr>
          </c:dPt>
          <c:cat>
            <c:strRef>
              <c:f>Sheet1!$A$2:$A$5</c:f>
              <c:strCache>
                <c:ptCount val="4"/>
                <c:pt idx="0">
                  <c:v>较明确定位错误</c:v>
                </c:pt>
                <c:pt idx="1">
                  <c:v>标注/范围疑点</c:v>
                </c:pt>
                <c:pt idx="2">
                  <c:v>两者并存</c:v>
                </c:pt>
                <c:pt idx="3">
                  <c:v>证据不足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</c:v>
                </c:pt>
                <c:pt idx="1">
                  <c:v>15</c:v>
                </c:pt>
                <c:pt idx="2">
                  <c:v>10</c:v>
                </c:pt>
                <c:pt idx="3">
                  <c:v>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lang="zh-CN" sz="180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defRPr>
              </a:pPr>
              <a:endParaRPr lang="zh-CN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2068027336"/>
        <c:axId val="2113994440"/>
      </c:barChart>
      <c:catAx>
        <c:axId val="2068027336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 w="9525" cap="flat" cmpd="sng" algn="ctr">
            <a:solidFill>
              <a:srgbClr val="D5DEE8"/>
            </a:solidFill>
            <a:round/>
          </a:ln>
        </c:spPr>
        <c:txPr>
          <a:bodyPr/>
          <a:lstStyle/>
          <a:p>
            <a:pPr>
              <a:defRPr lang="zh-CN" sz="180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  <c:max val="25"/>
          <c:min val="0"/>
        </c:scaling>
        <c:delete val="0"/>
        <c:axPos val="b"/>
        <c:majorGridlines>
          <c:spPr>
            <a:ln w="6350" cap="flat" cmpd="sng" algn="ctr">
              <a:solidFill>
                <a:srgbClr val="E7EDF3"/>
              </a:solidFill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D5DEE8"/>
            </a:solidFill>
            <a:round/>
          </a:ln>
        </c:spPr>
        <c:txPr>
          <a:bodyPr/>
          <a:lstStyle/>
          <a:p>
            <a:pPr>
              <a:defRPr lang="zh-CN" sz="1350">
                <a:solidFill>
                  <a:srgbClr val="52667A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2068027336"/>
        <c:crosses val="max"/>
        <c:crossBetween val="between"/>
        <c:majorUnit val="5"/>
      </c:valAx>
      <c:spPr>
        <a:solidFill>
          <a:srgbClr val="FFFFFF"/>
        </a:solidFill>
        <a:ln>
          <a:noFill/>
        </a:ln>
      </c:spPr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pPr>
        <a:defRPr lang="zh-CN" sz="1800">
          <a:solidFill>
            <a:schemeClr val="accent1"/>
          </a:solidFill>
          <a:latin typeface="Microsoft YaHei"/>
          <a:ea typeface="Microsoft YaHei"/>
          <a:cs typeface="Microsoft YaHei"/>
        </a:defRPr>
      </a:pPr>
      <a:endParaRPr lang="zh-CN"/>
    </a:p>
  </c:txPr>
  <c:externalData r:id="rId1">
    <c:autoUpdate val="0"/>
  </c:externalData>
</c:chartSpace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这次汇报承接十月二十七日组会，整理十月二十八日至三十日的工作，实验结果截至二十九日。上次讨论之后，我们先把原生大模型的 Direct 基线和失败机制查清楚，并将研究主线明确为 query 驱动的时间定位。现在得到的主要产出，是有原始帧、预测区间和标注区间可以相互核对的反例集合：新增一百条样本中，五十二条合法输出没有达到主定位阈值，经过逐例初筛，其中二十二条属于较明确的定位错误。这里的分类来自助手审核，还没有独立人工复核。本次重点说明已经完成的诊断、结果的适用范围，以及下一步应该用什么具体错误检验补证机制。</a:t>
            </a:r>
          </a:p>
          <a:p>
            <a:pPr/>
            <a:endParaRPr lang="zh-CN" dirty="0"/>
          </a:p>
          <a:p>
            <a:pPr/>
            <a:r>
              <a:rPr lang="zh-CN" dirty="0"/>
              <a:t>本次汇报依据项目文档 progress_after_meeting_2026-10-27_to_2026-10-30.md，以及其中引用的归档实验报告。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这一阶段的工作分为四步。首先用整视频输入、一次输出评分整表的 Direct 基线检查原生模型的表现，并发现视频内所有片段同分。然后通过显式时间键和单目标输出，诊断问题是否与输出表示或目标范围有关。接下来按照最新确定的 grounding 主线，让模型直接给出目标事件的起止时间，先做原二十条，再扩展到一百条新样本。最后，把扩样得到的五十二条主要反例全部回到原始输入帧中审核，分开模型错误、标注疑点、两者并存和证据不足。</a:t>
            </a:r>
          </a:p>
          <a:p>
            <a:pPr/>
            <a:endParaRPr lang="zh-CN" dirty="0"/>
          </a:p>
          <a:p>
            <a:pPr/>
            <a:r>
              <a:rPr lang="zh-CN" dirty="0"/>
              <a:t>因此，这一阶段完成的是基线和问题定位，尚未证明记忆、比较器或者回看能够修复这些错误。上次已经汇报过的跨数据集基线和 ReVALUE 模块结果也不重复算成本阶段新增成果。下一步的逻辑是，先找到可信且可解释的失败，再检验相应的局部补证是否有效。</a:t>
            </a:r>
          </a:p>
          <a:p>
            <a:pPr/>
            <a:endParaRPr lang="zh-CN" dirty="0"/>
          </a:p>
          <a:p>
            <a:pPr/>
            <a:r>
              <a:rPr lang="zh-CN" dirty="0"/>
              <a:t>详细工作边界见 progress_after_meeting_2026-10-27_to_2026-10-30.md。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最早的 Direct 设置使用 Qwen3-VL-8B-Instruct，输入整条视频均匀取得的六十四帧、真实时间戳和 query，要求一次性为全部两秒片段输出零到一百分的评分数组。QV 的二十条全部成功，TVSum 的前五条成功，第六条发生 OOM，之后没有补跑，所以 TVSum 这里只能报五条，不能当成完整十条结果。</a:t>
            </a:r>
          </a:p>
          <a:p>
            <a:pPr/>
            <a:endParaRPr lang="zh-CN" dirty="0"/>
          </a:p>
          <a:p>
            <a:pPr/>
            <a:r>
              <a:rPr lang="zh-CN" dirty="0"/>
              <a:t>二十五条有效响应全部在各自视频内同分。页面中的八十、八十只是这种输出形式的示意，不表示所有视频都得到八十分。我们核查过原始响应，常数已经存在于模型输出中，并非解析器把单个数值广播到整个数组。QV 二十条的高光 mAP 为十点七一，Hit@1 为十五。这说明当前整表输出条件发生退化，但还不能推出模型完全没有时间理解能力，所以后续才继续做输出机制诊断。</a:t>
            </a:r>
          </a:p>
          <a:p>
            <a:pPr/>
            <a:endParaRPr lang="zh-CN" dirty="0"/>
          </a:p>
          <a:p>
            <a:pPr/>
            <a:r>
              <a:rPr lang="zh-CN" dirty="0"/>
              <a:t>原始结果、OOM 记录和常数审计见 qwen_direct_pilot_results_2026-10-28.md。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这三个条件共享原固定 QV 二十条、原六十四帧像素和时间戳，以及相同模型。原始评分整表二十条全部同分。将输出改成显式时间键后，二十条仍然全部同分，虽然部分视频的整体分值改变，视频内排序没有改善，mAP 和 Hit@1 也没有变化。因此，给整表增加时间键本身没有解决当前退化。</a:t>
            </a:r>
          </a:p>
          <a:p>
            <a:pPr/>
            <a:endParaRPr lang="zh-CN" dirty="0"/>
          </a:p>
          <a:p>
            <a:pPr/>
            <a:r>
              <a:rPr lang="zh-CN" dirty="0"/>
              <a:t>接着只问一个固定两秒目标片段，每个视频预先固定两处目标，一共四十次调用。二十对结果里，十一对出现不同分数，九对仍然同分。这是一个机制线索：当输出目标范围缩小时，模型开始在部分位置给出不同判断。但十一比二十不是准确率，实验只覆盖四十个时间格，没有新的全网格 mAP。目标指令、输出长度和注意力聚焦也一起变化，所以它不是纯粹的时间理解因果实验。</a:t>
            </a:r>
          </a:p>
          <a:p>
            <a:pPr/>
            <a:endParaRPr lang="zh-CN" dirty="0"/>
          </a:p>
          <a:p>
            <a:pPr/>
            <a:r>
              <a:rPr lang="zh-CN" dirty="0"/>
              <a:t>两项诊断分别见 qwen_direct_temporal_results_2026-10-28.md 和 qwen_direct_granularity_results_2026-10-29.md。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按照最新讨论，之后的主线是 grounding，也就是目标事件在哪里，而不是候选片段谁更值得观看。当前 Direct grounding 的实现很直接：输入六十四帧、真实时间戳和 query，模型一次输出一个连续的起止区间，或者给出 not_found、uncertain。这一版没有 REZE 候选重排，也没有记忆或回看，因此可以作为原生模型定位能力的基线。评价改用定位 R1，与之前高光排序的 mAP 分开。</a:t>
            </a:r>
          </a:p>
          <a:p>
            <a:pPr/>
            <a:endParaRPr lang="zh-CN" dirty="0"/>
          </a:p>
          <a:p>
            <a:pPr/>
            <a:r>
              <a:rPr lang="zh-CN" dirty="0"/>
              <a:t>这里给出一个具体例子。qid 五零七三要求定位准备麦片的片段，模型预测五十二至六十七秒，发布标注是四十八至六十四秒，IoU 为零点六三一六。同一条样本在旧整表条件下全部打零分，而直接区间输出能够产生有意义的位置。不过任务定义和输出都已改变，不能把这个案例作为严格单变量的精度提升证据。另外，本轮都是正 query，虽然接口允许弃答，还没有验证负 query 的拒答能力。</a:t>
            </a:r>
          </a:p>
          <a:p>
            <a:pPr/>
            <a:endParaRPr lang="zh-CN" dirty="0"/>
          </a:p>
          <a:p>
            <a:pPr/>
            <a:r>
              <a:rPr lang="zh-CN" dirty="0"/>
              <a:t>任务说明见 temporal_grounding_mainline_2026-10-29.md，案例和首轮指标见 qwen_direct_grounding_results_2026-10-29.md。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定位指标把一个预测区间与每个发布 GT 分别计算 IoU，取最大值；R1@0.5 表示这个最大 IoU 至少达到零点五的样本比例。首轮二十条全部输出合法，两个阈值下分别是百分之七十和百分之五十，其中六条低于零点五。</a:t>
            </a:r>
          </a:p>
          <a:p>
            <a:pPr/>
            <a:endParaRPr lang="zh-CN" dirty="0"/>
          </a:p>
          <a:p>
            <a:pPr/>
            <a:r>
              <a:rPr lang="zh-CN" dirty="0"/>
              <a:t>扩样的一百条与旧二十条排除了 query 和源视频重叠。实际尝试九十六条，其中九十四条输出合法，一条 OOM，一条输出反向区间；还有四条没有尝试。结果按完整一百条计算，技术缺失计零，所以 R1@0.5 是百分之四十二，R1@0.7 是百分之二十八。五十二条反例指九十四条合法输出中低于零点五的部分，不包括技术失败和未运行样本。</a:t>
            </a:r>
          </a:p>
          <a:p>
            <a:pPr/>
            <a:endParaRPr lang="zh-CN" dirty="0"/>
          </a:p>
          <a:p>
            <a:pPr/>
            <a:r>
              <a:rPr lang="zh-CN" dirty="0"/>
              <a:t>这两行来自不同的 train 开发样本，并非官方全量验证。不能把七十降到四十二直接解释为方法退化，也不能只保留成功执行的分母来报更好看的结果。</a:t>
            </a:r>
          </a:p>
          <a:p>
            <a:pPr/>
            <a:endParaRPr lang="zh-CN" dirty="0"/>
          </a:p>
          <a:p>
            <a:pPr/>
            <a:r>
              <a:rPr lang="zh-CN" dirty="0"/>
              <a:t>完整执行状态和指标见 qwen_direct_grounding_results_2026-10-29.md 与 qwen_direct_grounding_expand100_results_2026-10-29.md。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接下来对全部五十二条反例使用原始六十四帧进行审核，没有重新采样，也没有只挑有利案例。初筛结果是二十二条较明确定位错误，十五条标注或 query 范围疑点，十条模型和标注问题可能同时存在，五条证据不足。这四类相加为五十二条，是本次审核的完整分母。</a:t>
            </a:r>
          </a:p>
          <a:p>
            <a:pPr/>
            <a:endParaRPr lang="zh-CN" dirty="0"/>
          </a:p>
          <a:p>
            <a:pPr/>
            <a:r>
              <a:rPr lang="zh-CN" dirty="0"/>
              <a:t>一个值得关注的现象是，十四条 IoU 为零的样本中，五条在预测位置仍有与 query 相关的事件。也就是说，零重叠不总意味着模型找错了内容，也可能涉及重复实例、动作粒度或者标注范围。不过这些判断仍来自助手对稀疏帧的初筛，不能替代独立人工审查，更不能外推成数据集整体的标签错误率。我们保留了发布 GT，没有据此改标注或者重新计算一个更有利的成绩。后面三页分别说明明确错误、标注疑点和混合情况。</a:t>
            </a:r>
          </a:p>
          <a:p>
            <a:pPr/>
            <a:endParaRPr lang="zh-CN" dirty="0"/>
          </a:p>
          <a:p>
            <a:pPr/>
            <a:r>
              <a:rPr lang="zh-CN" dirty="0"/>
              <a:t>分类及逐例证据见 qwen_direct_grounding_52_counterexample_analysis_2026-10-29.md。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第一类是较明确的事件定位错误。qid 四四八要求找到鸡在鸡舍里的片段，发布 GT 是九十二至一百一十二秒，预测却落在一百三十至一百四十五秒，IoU 为零。左侧使用的是原模型输入中的帧：GT 区域可以看到围栏内的鸡，而预测区域主要是道路、紫色花朵和文字牌，内容上也不符合 query。</a:t>
            </a:r>
          </a:p>
          <a:p>
            <a:pPr/>
            <a:endParaRPr lang="zh-CN" dirty="0"/>
          </a:p>
          <a:p>
            <a:pPr/>
            <a:r>
              <a:rPr lang="zh-CN" dirty="0"/>
              <a:t>这类样本最适合先做最小修复实验。我们可以明确核验预测区间里是否同时存在所需对象和场景，而不是笼统要求模型再思考一次。要注意，目前完成的是失败证据整理，还没有新的对象核验或回看实验，所以这里的“待检验”不能讲成已经解决。</a:t>
            </a:r>
          </a:p>
          <a:p>
            <a:pPr/>
            <a:endParaRPr lang="zh-CN" dirty="0"/>
          </a:p>
          <a:p>
            <a:pPr/>
            <a:r>
              <a:rPr lang="zh-CN" dirty="0"/>
              <a:t>证据来自 qwen_direct_grounding_52_counterexample_analysis_2026-10-29.md 的 qid 448 审核及原帧证据卡 qv_448.jpg。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第二类提醒我们不要仅凭 IoU 归责。qid 三六七六的任务是布置圣诞树，发布 GT 在一百一十八至一百四十四秒，模型预测零至二十四秒，两者完全不重叠。但是在五点八三、十点五三、十五点二三秒的输入帧里，都能看到戴圣诞帽的女子整理小树。模型找到的是前一次相关活动，因此预测在内容上并非毫无依据。</a:t>
            </a:r>
          </a:p>
          <a:p>
            <a:pPr/>
            <a:endParaRPr lang="zh-CN" dirty="0"/>
          </a:p>
          <a:p>
            <a:pPr/>
            <a:r>
              <a:rPr lang="zh-CN" dirty="0"/>
              <a:t>现在有两个待人工核查的问题：一是 query 中 setting up 所指动作的粒度，二是发布标注是否覆盖了前后重复出现的匹配实例。稀疏帧还不足以把“疑似漏标”升级成“确认标注错误”。因此保留发布 GT 和原指标，人工核查的目的，是避免后续修复模块把一个内容合理的预测硬改成错误位置。</a:t>
            </a:r>
          </a:p>
          <a:p>
            <a:pPr/>
            <a:endParaRPr lang="zh-CN" dirty="0"/>
          </a:p>
          <a:p>
            <a:pPr/>
            <a:r>
              <a:rPr lang="zh-CN" dirty="0"/>
              <a:t>依据为 qwen_direct_grounding_52_counterexample_analysis_2026-10-29.md 的 qid 3676 审核及 qv_3676.jpg。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第三类不是二选一，模型和标注可能各有一部分问题。qid 五四六六要求展示编辑软件，发布 GT 有零至八秒、四十八至六十二秒两段，预测是三十八至五十七秒，最大 IoU 为零点三七五。</a:t>
            </a:r>
          </a:p>
          <a:p>
            <a:pPr/>
            <a:endParaRPr lang="zh-CN" dirty="0"/>
          </a:p>
          <a:p>
            <a:pPr/>
            <a:r>
              <a:rPr lang="zh-CN" dirty="0"/>
              <a:t>从原输入帧看，三十八点六四秒已经出现软件界面，说明四十八秒的 GT 起点可能偏晚；另一方面，约五十九秒仍有软件画面，模型却在五十七秒结束，这又是预测终点偏早的证据。这两个判断需要分开保留，不能用一个标注疑点抵消模型的边界遗漏，也不能因模型有错误就认为标注范围一定完整。由于当前只有稀疏帧，精确到秒的边界仍要回到连续视频核验。它为下一步检查起点前、终点后的局部证据提供了明确测试对象。</a:t>
            </a:r>
          </a:p>
          <a:p>
            <a:pPr/>
            <a:endParaRPr lang="zh-CN" dirty="0"/>
          </a:p>
          <a:p>
            <a:pPr/>
            <a:r>
              <a:rPr lang="zh-CN" dirty="0"/>
              <a:t>依据为 qwen_direct_grounding_52_counterexample_analysis_2026-10-29.md 的 qid 5466 审核及 qv_5466.jpg。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目前应把工程运行状态和科学问题分开。工程上已经处理 GPU 编号兼容，固定输入与源码，采用分批冷启动 worker，并保存调用账本、失败记录和退出信息。非法区间也按契约拒绝，例如一百五十至十七秒，没有静默交换端点把它变成一次成功预测，也没有额外重试。</a:t>
            </a:r>
          </a:p>
          <a:p>
            <a:pPr/>
            <a:endParaRPr lang="zh-CN" dirty="0"/>
          </a:p>
          <a:p>
            <a:pPr/>
            <a:r>
              <a:rPr lang="zh-CN" dirty="0"/>
              <a:t>但这些措施不代表 OOM 根因已经修复。缓存累积是当前主要线索，还没有独立 GPU 对照验证。扩样最后四条和 TVSum Direct 剩余五条仍未补跑。科学上，六十四帧且没有声音的输入对瞬时动作、持续状态和精确边界仍有局限，部分案例还需要连续视频和人工核验。</a:t>
            </a:r>
          </a:p>
          <a:p>
            <a:pPr/>
            <a:endParaRPr lang="zh-CN" dirty="0"/>
          </a:p>
          <a:p>
            <a:pPr/>
            <a:r>
              <a:rPr lang="zh-CN" dirty="0"/>
              <a:t>所以本阶段可以确认的成果，是可追溯的基线、失败记录和定位反例集合。它使下一步实验更具体，但还不能宣称 Agent 的记忆、比较或者回看已带来修复收益。</a:t>
            </a:r>
          </a:p>
          <a:p>
            <a:pPr/>
            <a:endParaRPr lang="zh-CN" dirty="0"/>
          </a:p>
          <a:p>
            <a:pPr/>
            <a:r>
              <a:rPr lang="zh-CN" dirty="0"/>
              <a:t>运行状态依据 Direct pilot 和 grounding 扩样报告，科学限制依据五十二条反例分析及工作总结。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下一步建议先用可靠反例验证局部补证，再扩大 Agent 实验。对于已经确认选错事件的样本，核验对象、动作、关系和场景是否同时满足 query；对于主要是边界的问题，重点检查预测起点之前和终点之后的连续证据。两类问题分开设计最小对照，避免一次加入多个模块后无法知道哪一步起作用。</a:t>
            </a:r>
          </a:p>
          <a:p>
            <a:pPr/>
            <a:endParaRPr lang="zh-CN" dirty="0"/>
          </a:p>
          <a:p>
            <a:pPr/>
            <a:r>
              <a:rPr lang="zh-CN" dirty="0"/>
              <a:t>标注疑点则走单独的人工核查流程，检查重复实例和 query 的动作范围，发布 GT 与原成绩保持可追溯。涉及声音的案例也应单独标记，而不是让视觉帧替代音频证据。评价不能只看修复了多少个反例，还应检查原本命中的样本被误改了多少，同时报告完整分母的定位指标和新增调用成本。</a:t>
            </a:r>
          </a:p>
          <a:p>
            <a:pPr/>
            <a:endParaRPr lang="zh-CN" dirty="0"/>
          </a:p>
          <a:p>
            <a:pPr/>
            <a:r>
              <a:rPr lang="zh-CN" dirty="0"/>
              <a:t>这些是下一步待执行的实验方向，不是已经运行的结果，也不是新预算授权。LensWalk 和 Gemini 相关代码仍待对接。当前最重要的判断，是先证明具体定位错误能够被明确的证据补充修复，再决定怎样接入更完整的 Agent 框架。</a:t>
            </a:r>
          </a:p>
          <a:p>
            <a:pPr/>
            <a:endParaRPr lang="zh-CN" dirty="0"/>
          </a:p>
          <a:p>
            <a:pPr/>
            <a:r>
              <a:rPr lang="zh-CN" dirty="0"/>
              <a:t>方向依据 progress_after_meeting_2026-10-27_to_2026-10-30.md 与 temporal_grounding_mainline_2026-10-29.md。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revalue_grounding_progress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revalue_grounding_progress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chart" Target="../charts/chart701.xml"/>
  <Relationship Id="rId3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251b763f9969e4b2.jpg"/>
  <Relationship Id="rId3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474ac0b7425e344a.jpg"/>
  <Relationship Id="rId3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8d795601e9443565.jpg"/>
  <Relationship Id="rId3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title"/>
          <p:cNvGrpSpPr/>
          <p:nvPr/>
        </p:nvGrpSpPr>
        <p:grpSpPr>
          <a:xfrm>
            <a:off x="438150" y="527050"/>
            <a:ext cx="5524500" cy="3049143"/>
            <a:chOff x="438150" y="527050"/>
            <a:chExt cx="5524500" cy="3049143"/>
          </a:xfrm>
        </p:grpSpPr>
        <p:sp>
          <p:nvSpPr>
            <p:cNvPr id="2" name="TextBox 2"/>
            <p:cNvSpPr txBox="1"/>
            <p:nvPr/>
          </p:nvSpPr>
          <p:spPr>
            <a:xfrm>
              <a:off x="448056" y="527050"/>
              <a:ext cx="293499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ReVALUE｜组会后实验进展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38150" y="1301750"/>
              <a:ext cx="5524500" cy="1752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6450"/>
                </a:lnSpc>
              </a:pPr>
              <a:r>
                <a:rPr lang="zh-CN" sz="4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从 Direct 基线</a:t>
              </a:r>
              <a:br>
                <a:rPr lang="zh-CN" sz="4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4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到可核查的定位反例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46532" y="3165475"/>
              <a:ext cx="407811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主线转向 query 驱动的时间定位</a:t>
              </a:r>
            </a:p>
          </p:txBody>
        </p:sp>
      </p:grpSp>
      <p:grpSp>
        <p:nvGrpSpPr>
          <p:cNvPr id="12" name="counterexample-hook"/>
          <p:cNvGrpSpPr/>
          <p:nvPr/>
        </p:nvGrpSpPr>
        <p:grpSpPr>
          <a:xfrm>
            <a:off x="8229600" y="1257300"/>
            <a:ext cx="3505200" cy="3505200"/>
            <a:chOff x="8229600" y="1257300"/>
            <a:chExt cx="3505200" cy="3505200"/>
          </a:xfrm>
        </p:grpSpPr>
        <p:sp>
          <p:nvSpPr>
            <p:cNvPr id="6" name="Rectangle 6"/>
            <p:cNvSpPr/>
            <p:nvPr/>
          </p:nvSpPr>
          <p:spPr>
            <a:xfrm>
              <a:off x="8229600" y="1257300"/>
              <a:ext cx="3505200" cy="3505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591550" y="1587500"/>
              <a:ext cx="1344183" cy="1619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52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599932" y="2889250"/>
              <a:ext cx="20002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条扩样指标反例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610600" y="3448050"/>
              <a:ext cx="2743200" cy="9525"/>
            </a:xfrm>
            <a:custGeom>
              <a:avLst/>
              <a:gdLst/>
              <a:ahLst/>
              <a:cxnLst/>
              <a:rect l="l" t="t" r="r" b="b"/>
              <a:pathLst>
                <a:path w="2743200" h="9525">
                  <a:moveTo>
                    <a:pt x="0" y="0"/>
                  </a:moveTo>
                  <a:lnTo>
                    <a:pt x="27432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01456" y="3698875"/>
              <a:ext cx="23130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22 条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较明确定位错误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603742" y="4149725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原始帧助手初筛，待人工复核</a:t>
              </a:r>
            </a:p>
          </p:txBody>
        </p:sp>
      </p:grpSp>
      <p:grpSp>
        <p:nvGrpSpPr>
          <p:cNvPr id="19" name="scope-and-author"/>
          <p:cNvGrpSpPr/>
          <p:nvPr/>
        </p:nvGrpSpPr>
        <p:grpSpPr>
          <a:xfrm>
            <a:off x="448056" y="4171950"/>
            <a:ext cx="6857619" cy="1765808"/>
            <a:chOff x="448056" y="4171950"/>
            <a:chExt cx="6857619" cy="1765808"/>
          </a:xfrm>
        </p:grpSpPr>
        <p:sp>
          <p:nvSpPr>
            <p:cNvPr id="13" name="Line 13"/>
            <p:cNvSpPr/>
            <p:nvPr/>
          </p:nvSpPr>
          <p:spPr>
            <a:xfrm>
              <a:off x="476250" y="4286250"/>
              <a:ext cx="6819900" cy="9525"/>
            </a:xfrm>
            <a:custGeom>
              <a:avLst/>
              <a:gdLst/>
              <a:ahLst/>
              <a:cxnLst/>
              <a:rect l="l" t="t" r="r" b="b"/>
              <a:pathLst>
                <a:path w="6819900" h="9525">
                  <a:moveTo>
                    <a:pt x="0" y="0"/>
                  </a:moveTo>
                  <a:lnTo>
                    <a:pt x="68199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476250" y="4171950"/>
              <a:ext cx="9525" cy="228600"/>
            </a:xfrm>
            <a:custGeom>
              <a:avLst/>
              <a:gdLst/>
              <a:ahLst/>
              <a:cxnLst/>
              <a:rect l="l" t="t" r="r" b="b"/>
              <a:pathLst>
                <a:path w="9525"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7296150" y="4171950"/>
              <a:ext cx="9525" cy="228600"/>
            </a:xfrm>
            <a:custGeom>
              <a:avLst/>
              <a:gdLst/>
              <a:ahLst/>
              <a:cxnLst/>
              <a:rect l="l" t="t" r="r" b="b"/>
              <a:pathLst>
                <a:path w="9525"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48056" y="4584700"/>
              <a:ext cx="45545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Direct 诊断 → Grounding 测试 → 反例核查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48056" y="5270500"/>
              <a:ext cx="311993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林逸飞　2026.10.28–10.30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50342" y="5673725"/>
              <a:ext cx="39755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承接 10 月 27 日组会；实验结果截至 10 月 29 日</a:t>
              </a:r>
            </a:p>
          </p:txBody>
        </p:sp>
      </p:grpSp>
      <p:grpSp>
        <p:nvGrpSpPr>
          <p:cNvPr id="22" name="footer"/>
          <p:cNvGrpSpPr/>
          <p:nvPr/>
        </p:nvGrpSpPr>
        <p:grpSpPr>
          <a:xfrm>
            <a:off x="451104" y="6438900"/>
            <a:ext cx="11289792" cy="234696"/>
            <a:chOff x="451104" y="6438900"/>
            <a:chExt cx="11289792" cy="234696"/>
          </a:xfrm>
        </p:grpSpPr>
        <p:sp>
          <p:nvSpPr>
            <p:cNvPr id="20" name="TextBox 20"/>
            <p:cNvSpPr txBox="1"/>
            <p:nvPr/>
          </p:nvSpPr>
          <p:spPr>
            <a:xfrm>
              <a:off x="451104" y="643890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依据：组会后工作总结与归档实验报告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187532" y="643890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01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441198" y="301625"/>
            <a:ext cx="7766203" cy="1000252"/>
            <a:chOff x="441198" y="301625"/>
            <a:chExt cx="7766203" cy="1000252"/>
          </a:xfrm>
        </p:grpSpPr>
        <p:sp>
          <p:nvSpPr>
            <p:cNvPr id="2" name="TextBox 2"/>
            <p:cNvSpPr txBox="1"/>
            <p:nvPr/>
          </p:nvSpPr>
          <p:spPr>
            <a:xfrm>
              <a:off x="450342" y="301625"/>
              <a:ext cx="11495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 / 工作边界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685800"/>
              <a:ext cx="776620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已完成基线与诊断，Agent 修复尚待验证</a:t>
              </a:r>
            </a:p>
          </p:txBody>
        </p:sp>
      </p:grpSp>
      <p:grpSp>
        <p:nvGrpSpPr>
          <p:cNvPr id="22" name="completed-work-sequence"/>
          <p:cNvGrpSpPr/>
          <p:nvPr/>
        </p:nvGrpSpPr>
        <p:grpSpPr>
          <a:xfrm>
            <a:off x="445770" y="1784350"/>
            <a:ext cx="10399014" cy="2457069"/>
            <a:chOff x="445770" y="1784350"/>
            <a:chExt cx="10399014" cy="2457069"/>
          </a:xfrm>
        </p:grpSpPr>
        <p:sp>
          <p:nvSpPr>
            <p:cNvPr id="5" name="TextBox 5"/>
            <p:cNvSpPr txBox="1"/>
            <p:nvPr/>
          </p:nvSpPr>
          <p:spPr>
            <a:xfrm>
              <a:off x="448056" y="1784350"/>
              <a:ext cx="228394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10.28–10.29 已完成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762000" y="2705100"/>
              <a:ext cx="8915400" cy="9525"/>
            </a:xfrm>
            <a:custGeom>
              <a:avLst/>
              <a:gdLst/>
              <a:ahLst/>
              <a:cxnLst/>
              <a:rect l="l" t="t" r="r" b="b"/>
              <a:pathLst>
                <a:path w="8915400" h="9525">
                  <a:moveTo>
                    <a:pt x="0" y="0"/>
                  </a:moveTo>
                  <a:lnTo>
                    <a:pt x="89154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666750" y="2609850"/>
              <a:ext cx="9105900" cy="190500"/>
              <a:chOff x="666750" y="2609850"/>
              <a:chExt cx="9105900" cy="190500"/>
            </a:xfrm>
          </p:grpSpPr>
          <p:sp>
            <p:nvSpPr>
              <p:cNvPr id="7" name="Ellipse 7"/>
              <p:cNvSpPr/>
              <p:nvPr/>
            </p:nvSpPr>
            <p:spPr>
              <a:xfrm>
                <a:off x="666750" y="2609850"/>
                <a:ext cx="190500" cy="19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8" name="Ellipse 8"/>
              <p:cNvSpPr/>
              <p:nvPr/>
            </p:nvSpPr>
            <p:spPr>
              <a:xfrm>
                <a:off x="3638550" y="2609850"/>
                <a:ext cx="190500" cy="19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9" name="Ellipse 9"/>
              <p:cNvSpPr/>
              <p:nvPr/>
            </p:nvSpPr>
            <p:spPr>
              <a:xfrm>
                <a:off x="6610350" y="2609850"/>
                <a:ext cx="190500" cy="19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0" name="Ellipse 10"/>
              <p:cNvSpPr/>
              <p:nvPr/>
            </p:nvSpPr>
            <p:spPr>
              <a:xfrm>
                <a:off x="9582150" y="2609850"/>
                <a:ext cx="190500" cy="19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</p:grpSp>
        <p:grpSp>
          <p:nvGrpSpPr>
            <p:cNvPr id="16" name="Group 16"/>
            <p:cNvGrpSpPr/>
            <p:nvPr/>
          </p:nvGrpSpPr>
          <p:grpSpPr>
            <a:xfrm>
              <a:off x="445770" y="3016250"/>
              <a:ext cx="10149840" cy="440055"/>
              <a:chOff x="445770" y="3016250"/>
              <a:chExt cx="10149840" cy="440055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445770" y="3016250"/>
                <a:ext cx="1234440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2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整表评分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3417570" y="3016250"/>
                <a:ext cx="1537335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2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单目标诊断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6389370" y="3016250"/>
                <a:ext cx="1234440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2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直接定位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9361170" y="3016250"/>
                <a:ext cx="1234440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2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反例核查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448056" y="3546475"/>
              <a:ext cx="10396728" cy="694944"/>
              <a:chOff x="448056" y="3546475"/>
              <a:chExt cx="10396728" cy="694944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448056" y="3546475"/>
                <a:ext cx="1389888" cy="6949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700"/>
                  </a:lnSpc>
                </a:pPr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定位同分退化</a:t>
                </a:r>
                <a:b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检验时间键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3419856" y="3546475"/>
                <a:ext cx="1389888" cy="6949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700"/>
                  </a:lnSpc>
                </a:pPr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固定两处目标</a:t>
                </a:r>
                <a:b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检验输出粒度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6391656" y="3546475"/>
                <a:ext cx="1504188" cy="6949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700"/>
                  </a:lnSpc>
                </a:pPr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QV20 + 新 100</a:t>
                </a:r>
                <a:b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保留完整分母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9363456" y="3546475"/>
                <a:ext cx="1481328" cy="6949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700"/>
                  </a:lnSpc>
                </a:pPr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52 条逐例审核</a:t>
                </a:r>
                <a:b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分开四类问题</a:t>
                </a:r>
              </a:p>
            </p:txBody>
          </p:sp>
        </p:grpSp>
      </p:grpSp>
      <p:grpSp>
        <p:nvGrpSpPr>
          <p:cNvPr id="26" name="future-work-boundary"/>
          <p:cNvGrpSpPr/>
          <p:nvPr/>
        </p:nvGrpSpPr>
        <p:grpSpPr>
          <a:xfrm>
            <a:off x="457200" y="4857750"/>
            <a:ext cx="11277600" cy="1295400"/>
            <a:chOff x="457200" y="4857750"/>
            <a:chExt cx="11277600" cy="1295400"/>
          </a:xfrm>
        </p:grpSpPr>
        <p:sp>
          <p:nvSpPr>
            <p:cNvPr id="23" name="Rectangle 23"/>
            <p:cNvSpPr/>
            <p:nvPr/>
          </p:nvSpPr>
          <p:spPr>
            <a:xfrm>
              <a:off x="457200" y="4857750"/>
              <a:ext cx="11277600" cy="1295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75132" y="5041900"/>
              <a:ext cx="624078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下一步：先验证具体定位错误能否被局部补证修复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76656" y="5546725"/>
              <a:ext cx="77724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本阶段尚无记忆、比较器或回看的新增修复收益；此前基线不重复计入。</a:t>
              </a:r>
            </a:p>
          </p:txBody>
        </p:sp>
      </p:grpSp>
      <p:grpSp>
        <p:nvGrpSpPr>
          <p:cNvPr id="29" name="footer"/>
          <p:cNvGrpSpPr/>
          <p:nvPr/>
        </p:nvGrpSpPr>
        <p:grpSpPr>
          <a:xfrm>
            <a:off x="451104" y="6438900"/>
            <a:ext cx="11289792" cy="234696"/>
            <a:chOff x="451104" y="6438900"/>
            <a:chExt cx="11289792" cy="234696"/>
          </a:xfrm>
        </p:grpSpPr>
        <p:sp>
          <p:nvSpPr>
            <p:cNvPr id="27" name="TextBox 27"/>
            <p:cNvSpPr txBox="1"/>
            <p:nvPr/>
          </p:nvSpPr>
          <p:spPr>
            <a:xfrm>
              <a:off x="451104" y="6438900"/>
              <a:ext cx="23949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依据：组会后工作总结（10.30）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187532" y="643890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441198" y="301625"/>
            <a:ext cx="6816852" cy="1000252"/>
            <a:chOff x="441198" y="301625"/>
            <a:chExt cx="6816852" cy="1000252"/>
          </a:xfrm>
        </p:grpSpPr>
        <p:sp>
          <p:nvSpPr>
            <p:cNvPr id="2" name="TextBox 2"/>
            <p:cNvSpPr txBox="1"/>
            <p:nvPr/>
          </p:nvSpPr>
          <p:spPr>
            <a:xfrm>
              <a:off x="450342" y="301625"/>
              <a:ext cx="17679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/ Direct 整表输出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685800"/>
              <a:ext cx="681685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整表输出把视频内所有片段打成同分</a:t>
              </a:r>
            </a:p>
          </p:txBody>
        </p:sp>
      </p:grpSp>
      <p:grpSp>
        <p:nvGrpSpPr>
          <p:cNvPr id="8" name="constant-result"/>
          <p:cNvGrpSpPr/>
          <p:nvPr/>
        </p:nvGrpSpPr>
        <p:grpSpPr>
          <a:xfrm>
            <a:off x="438150" y="1911350"/>
            <a:ext cx="3303308" cy="2212594"/>
            <a:chOff x="438150" y="1911350"/>
            <a:chExt cx="3303308" cy="2212594"/>
          </a:xfrm>
        </p:grpSpPr>
        <p:sp>
          <p:nvSpPr>
            <p:cNvPr id="5" name="TextBox 5"/>
            <p:cNvSpPr txBox="1"/>
            <p:nvPr/>
          </p:nvSpPr>
          <p:spPr>
            <a:xfrm>
              <a:off x="438150" y="1911350"/>
              <a:ext cx="3303308" cy="1619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25/25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46532" y="3270250"/>
              <a:ext cx="313105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有效响应均在视频内同分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48056" y="3771900"/>
              <a:ext cx="179568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QV20 + TVSum5</a:t>
              </a:r>
            </a:p>
          </p:txBody>
        </p:sp>
      </p:grpSp>
      <p:grpSp>
        <p:nvGrpSpPr>
          <p:cNvPr id="14" name="array-example"/>
          <p:cNvGrpSpPr/>
          <p:nvPr/>
        </p:nvGrpSpPr>
        <p:grpSpPr>
          <a:xfrm>
            <a:off x="5210556" y="1841500"/>
            <a:ext cx="6524244" cy="2238883"/>
            <a:chOff x="5210556" y="1841500"/>
            <a:chExt cx="6524244" cy="2238883"/>
          </a:xfrm>
        </p:grpSpPr>
        <p:sp>
          <p:nvSpPr>
            <p:cNvPr id="9" name="TextBox 9"/>
            <p:cNvSpPr txBox="1"/>
            <p:nvPr/>
          </p:nvSpPr>
          <p:spPr>
            <a:xfrm>
              <a:off x="5210556" y="1841500"/>
              <a:ext cx="30351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64 帧 + 真实时间戳 + query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210556" y="2247900"/>
              <a:ext cx="277108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Qwen3-VL-8B-Instruct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219700" y="2762250"/>
              <a:ext cx="6515100" cy="819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455158" y="2984500"/>
              <a:ext cx="323022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[80, 80, 80, 80, …]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212842" y="3816350"/>
              <a:ext cx="34758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常数形式示例；每个 2s 片段输出 0–100 分</a:t>
              </a:r>
            </a:p>
          </p:txBody>
        </p:sp>
      </p:grpSp>
      <p:grpSp>
        <p:nvGrpSpPr>
          <p:cNvPr id="18" name="diagnosis-limit"/>
          <p:cNvGrpSpPr/>
          <p:nvPr/>
        </p:nvGrpSpPr>
        <p:grpSpPr>
          <a:xfrm>
            <a:off x="446532" y="4851400"/>
            <a:ext cx="7886395" cy="1248283"/>
            <a:chOff x="446532" y="4851400"/>
            <a:chExt cx="7886395" cy="1248283"/>
          </a:xfrm>
        </p:grpSpPr>
        <p:sp>
          <p:nvSpPr>
            <p:cNvPr id="15" name="TextBox 15"/>
            <p:cNvSpPr txBox="1"/>
            <p:nvPr/>
          </p:nvSpPr>
          <p:spPr>
            <a:xfrm>
              <a:off x="446532" y="4851400"/>
              <a:ext cx="539267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原始响应即为常数</a:t>
              </a: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，不是解析器广播造成。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48056" y="5337175"/>
              <a:ext cx="78848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QV20：mAP 10.71 / Hit@1 15.00；这不能证明模型完全没有时间理解。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50342" y="5835650"/>
              <a:ext cx="43910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TVSum 第 6 条 OOM，Direct 仅完成 5/10；未补跑。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451104" y="6438900"/>
            <a:ext cx="11289792" cy="234696"/>
            <a:chOff x="451104" y="6438900"/>
            <a:chExt cx="11289792" cy="234696"/>
          </a:xfrm>
        </p:grpSpPr>
        <p:sp>
          <p:nvSpPr>
            <p:cNvPr id="19" name="TextBox 19"/>
            <p:cNvSpPr txBox="1"/>
            <p:nvPr/>
          </p:nvSpPr>
          <p:spPr>
            <a:xfrm>
              <a:off x="451104" y="6438900"/>
              <a:ext cx="25452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依据：Direct pilot 报告（10.28）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187532" y="643890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441198" y="301625"/>
            <a:ext cx="7240905" cy="1000252"/>
            <a:chOff x="441198" y="301625"/>
            <a:chExt cx="7240905" cy="1000252"/>
          </a:xfrm>
        </p:grpSpPr>
        <p:sp>
          <p:nvSpPr>
            <p:cNvPr id="2" name="TextBox 2"/>
            <p:cNvSpPr txBox="1"/>
            <p:nvPr/>
          </p:nvSpPr>
          <p:spPr>
            <a:xfrm>
              <a:off x="450342" y="301625"/>
              <a:ext cx="15130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 / 输出机制诊断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685800"/>
              <a:ext cx="724090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时间键无效；单目标判断出现部分分差</a:t>
              </a:r>
            </a:p>
          </p:txBody>
        </p:sp>
      </p:grpSp>
      <p:graphicFrame>
        <p:nvGraphicFramePr>
          <p:cNvPr id="5" name="output-conditions"/>
          <p:cNvGraphicFramePr>
            <a:graphicFrameLocks noGrp="1"/>
          </p:cNvGraphicFramePr>
          <p:nvPr/>
        </p:nvGraphicFramePr>
        <p:xfrm>
          <a:off x="457200" y="1809750"/>
          <a:ext cx="11277600" cy="26670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381250"/>
                <a:gridCol w="1809751"/>
                <a:gridCol w="7086599"/>
              </a:tblGrid>
              <a:tr h="609600">
                <a:tc>
                  <a:txBody>
                    <a:bodyPr/>
                    <a:lstStyle/>
                    <a:p>
                      <a:pPr/>
                      <a:r>
                        <a:rPr lang="zh-CN"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输出条件</a:t>
                      </a:r>
                    </a:p>
                  </a:txBody>
                  <a:tcPr anchor="ctr" marL="1905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调用规模</a:t>
                      </a:r>
                    </a:p>
                  </a:txBody>
                  <a:tcPr anchor="ctr" marL="1905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观察结果</a:t>
                      </a:r>
                    </a:p>
                  </a:txBody>
                  <a:tcPr anchor="ctr" marL="1905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/>
                      <a:r>
                        <a:rPr lang="zh-CN" sz="1800" b="1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原始评分整表</a:t>
                      </a:r>
                    </a:p>
                  </a:txBody>
                  <a:tcPr anchor="ctr" marL="1905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800" b="0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 次</a:t>
                      </a:r>
                    </a:p>
                  </a:txBody>
                  <a:tcPr anchor="ctr" marL="1905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800" b="0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20/20 视频内同分</a:t>
                      </a:r>
                    </a:p>
                  </a:txBody>
                  <a:tcPr anchor="ctr" marL="1905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/>
                      <a:r>
                        <a:rPr lang="zh-CN" sz="1800" b="1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显式时间键</a:t>
                      </a:r>
                    </a:p>
                  </a:txBody>
                  <a:tcPr anchor="ctr" marL="1905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800" b="0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 次</a:t>
                      </a:r>
                    </a:p>
                  </a:txBody>
                  <a:tcPr anchor="ctr" marL="1905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800" b="0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仍 20/20 同分，mAP / Hit@1 不变</a:t>
                      </a:r>
                    </a:p>
                  </a:txBody>
                  <a:tcPr anchor="ctr" marL="1905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/>
                      <a:r>
                        <a:rPr lang="zh-CN" sz="1800" b="1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单目标 2s 判断</a:t>
                      </a:r>
                    </a:p>
                  </a:txBody>
                  <a:tcPr anchor="ctr" marL="1905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800" b="0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 次</a:t>
                      </a:r>
                    </a:p>
                  </a:txBody>
                  <a:tcPr anchor="ctr" marL="1905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800" b="0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 对固定目标：11 对异值，9 对同分</a:t>
                      </a:r>
                    </a:p>
                  </a:txBody>
                  <a:tcPr anchor="ctr" marL="1905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8" name="granularity-caveat"/>
          <p:cNvGrpSpPr/>
          <p:nvPr/>
        </p:nvGrpSpPr>
        <p:grpSpPr>
          <a:xfrm>
            <a:off x="445770" y="4873625"/>
            <a:ext cx="8273034" cy="1177544"/>
            <a:chOff x="445770" y="4873625"/>
            <a:chExt cx="8273034" cy="1177544"/>
          </a:xfrm>
        </p:grpSpPr>
        <p:sp>
          <p:nvSpPr>
            <p:cNvPr id="6" name="TextBox 6"/>
            <p:cNvSpPr txBox="1"/>
            <p:nvPr/>
          </p:nvSpPr>
          <p:spPr>
            <a:xfrm>
              <a:off x="445770" y="4873625"/>
              <a:ext cx="432472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11/20 是分差比例，不是准确率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48056" y="5356225"/>
              <a:ext cx="8270748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共享 QV20、原 64 帧与模型；单目标只覆盖 40 个时间格，未计算新全网格精度。</a:t>
              </a:r>
              <a:b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目标范围、输出长度和注意力聚焦共同变化，不能当作纯时间理解因果实验。</a:t>
              </a:r>
            </a:p>
          </p:txBody>
        </p:sp>
      </p:grpSp>
      <p:grpSp>
        <p:nvGrpSpPr>
          <p:cNvPr id="11" name="footer"/>
          <p:cNvGrpSpPr/>
          <p:nvPr/>
        </p:nvGrpSpPr>
        <p:grpSpPr>
          <a:xfrm>
            <a:off x="451104" y="6438900"/>
            <a:ext cx="11289792" cy="234696"/>
            <a:chOff x="451104" y="6438900"/>
            <a:chExt cx="11289792" cy="234696"/>
          </a:xfrm>
        </p:grpSpPr>
        <p:sp>
          <p:nvSpPr>
            <p:cNvPr id="9" name="TextBox 9"/>
            <p:cNvSpPr txBox="1"/>
            <p:nvPr/>
          </p:nvSpPr>
          <p:spPr>
            <a:xfrm>
              <a:off x="451104" y="6438900"/>
              <a:ext cx="41315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依据：时间键报告（10.28）、单目标粒度报告（10.29）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187532" y="643890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441198" y="301625"/>
            <a:ext cx="6816852" cy="1000252"/>
            <a:chOff x="441198" y="301625"/>
            <a:chExt cx="6816852" cy="1000252"/>
          </a:xfrm>
        </p:grpSpPr>
        <p:sp>
          <p:nvSpPr>
            <p:cNvPr id="2" name="TextBox 2"/>
            <p:cNvSpPr txBox="1"/>
            <p:nvPr/>
          </p:nvSpPr>
          <p:spPr>
            <a:xfrm>
              <a:off x="450342" y="301625"/>
              <a:ext cx="22457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 / 主线切换到 Grounding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685800"/>
              <a:ext cx="681685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直接输出时间区间，检验目标在哪里</a:t>
              </a:r>
            </a:p>
          </p:txBody>
        </p:sp>
      </p:grpSp>
      <p:grpSp>
        <p:nvGrpSpPr>
          <p:cNvPr id="14" name="direct-pipeline"/>
          <p:cNvGrpSpPr/>
          <p:nvPr/>
        </p:nvGrpSpPr>
        <p:grpSpPr>
          <a:xfrm>
            <a:off x="448056" y="1752600"/>
            <a:ext cx="10760812" cy="1346708"/>
            <a:chOff x="448056" y="1752600"/>
            <a:chExt cx="10760812" cy="1346708"/>
          </a:xfrm>
        </p:grpSpPr>
        <p:sp>
          <p:nvSpPr>
            <p:cNvPr id="5" name="TextBox 5"/>
            <p:cNvSpPr txBox="1"/>
            <p:nvPr/>
          </p:nvSpPr>
          <p:spPr>
            <a:xfrm>
              <a:off x="448056" y="1762125"/>
              <a:ext cx="1732788" cy="7044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75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64 帧 + 真实 PTS</a:t>
              </a:r>
              <a:b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+ query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3124200" y="2209800"/>
              <a:ext cx="971550" cy="1"/>
            </a:xfrm>
            <a:prstGeom prst="line">
              <a:avLst/>
            </a:prstGeom>
            <a:noFill/>
            <a:ln w="19050">
              <a:solidFill>
                <a:srgbClr val="52667A"/>
              </a:solidFill>
              <a:tailEnd type="triangle" w="lg" len="lg"/>
            </a:ln>
          </p:spPr>
        </p:sp>
        <p:sp>
          <p:nvSpPr>
            <p:cNvPr id="7" name="Rectangle 7"/>
            <p:cNvSpPr/>
            <p:nvPr/>
          </p:nvSpPr>
          <p:spPr>
            <a:xfrm>
              <a:off x="4400550" y="1752600"/>
              <a:ext cx="2667000" cy="914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4721473" y="1879600"/>
              <a:ext cx="202515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Qwen 一次调用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056437" y="2311400"/>
              <a:ext cx="13552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Direct 原生判断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7277100" y="2209800"/>
              <a:ext cx="666750" cy="1"/>
            </a:xfrm>
            <a:prstGeom prst="line">
              <a:avLst/>
            </a:prstGeom>
            <a:noFill/>
            <a:ln w="19050">
              <a:solidFill>
                <a:srgbClr val="52667A"/>
              </a:solidFill>
              <a:tailEnd type="triangle" w="lg" len="lg"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257032" y="1803400"/>
              <a:ext cx="190625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[start, end]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258556" y="2212975"/>
              <a:ext cx="29503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或 not_found / uncertain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50342" y="2835275"/>
              <a:ext cx="56515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本轮无候选重排、记忆或回看；评价使用定位 R1，与高光 mAP 分开。</a:t>
              </a:r>
            </a:p>
          </p:txBody>
        </p:sp>
      </p:grpSp>
      <p:grpSp>
        <p:nvGrpSpPr>
          <p:cNvPr id="37" name="cereal-intervals"/>
          <p:cNvGrpSpPr/>
          <p:nvPr/>
        </p:nvGrpSpPr>
        <p:grpSpPr>
          <a:xfrm>
            <a:off x="448056" y="3438525"/>
            <a:ext cx="11295888" cy="1946783"/>
            <a:chOff x="448056" y="3438525"/>
            <a:chExt cx="11295888" cy="1946783"/>
          </a:xfrm>
        </p:grpSpPr>
        <p:sp>
          <p:nvSpPr>
            <p:cNvPr id="15" name="TextBox 15"/>
            <p:cNvSpPr txBox="1"/>
            <p:nvPr/>
          </p:nvSpPr>
          <p:spPr>
            <a:xfrm>
              <a:off x="448056" y="3451225"/>
              <a:ext cx="2222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qid 5073｜准备麦片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254615" y="3438525"/>
              <a:ext cx="148932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IoU = 0.6316</a:t>
              </a:r>
            </a:p>
          </p:txBody>
        </p:sp>
        <p:grpSp>
          <p:nvGrpSpPr>
            <p:cNvPr id="36" name="cereal-intervals-chartArea"/>
            <p:cNvGrpSpPr/>
            <p:nvPr/>
          </p:nvGrpSpPr>
          <p:grpSpPr>
            <a:xfrm>
              <a:off x="448056" y="3981450"/>
              <a:ext cx="10902962" cy="1403858"/>
              <a:chOff x="448056" y="3981450"/>
              <a:chExt cx="10902962" cy="1403858"/>
            </a:xfrm>
          </p:grpSpPr>
          <p:grpSp>
            <p:nvGrpSpPr>
              <p:cNvPr id="23" name="Group 23"/>
              <p:cNvGrpSpPr/>
              <p:nvPr/>
            </p:nvGrpSpPr>
            <p:grpSpPr>
              <a:xfrm>
                <a:off x="2095500" y="3981450"/>
                <a:ext cx="9058275" cy="1028700"/>
                <a:chOff x="2095500" y="3981450"/>
                <a:chExt cx="9058275" cy="1028700"/>
              </a:xfrm>
            </p:grpSpPr>
            <p:sp>
              <p:nvSpPr>
                <p:cNvPr id="17" name="Line 17"/>
                <p:cNvSpPr/>
                <p:nvPr/>
              </p:nvSpPr>
              <p:spPr>
                <a:xfrm>
                  <a:off x="2095500" y="3981450"/>
                  <a:ext cx="9525" cy="1028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028700">
                      <a:moveTo>
                        <a:pt x="0" y="0"/>
                      </a:moveTo>
                      <a:lnTo>
                        <a:pt x="0" y="1028700"/>
                      </a:lnTo>
                    </a:path>
                  </a:pathLst>
                </a:custGeom>
                <a:noFill/>
                <a:ln w="9525">
                  <a:solidFill>
                    <a:srgbClr val="E7EDF3"/>
                  </a:solidFill>
                </a:ln>
              </p:spPr>
            </p:sp>
            <p:sp>
              <p:nvSpPr>
                <p:cNvPr id="18" name="Line 18"/>
                <p:cNvSpPr/>
                <p:nvPr/>
              </p:nvSpPr>
              <p:spPr>
                <a:xfrm>
                  <a:off x="3905250" y="3981450"/>
                  <a:ext cx="9525" cy="1028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028700">
                      <a:moveTo>
                        <a:pt x="0" y="0"/>
                      </a:moveTo>
                      <a:lnTo>
                        <a:pt x="0" y="1028700"/>
                      </a:lnTo>
                    </a:path>
                  </a:pathLst>
                </a:custGeom>
                <a:noFill/>
                <a:ln w="9525">
                  <a:solidFill>
                    <a:srgbClr val="E7EDF3"/>
                  </a:solidFill>
                </a:ln>
              </p:spPr>
            </p:sp>
            <p:sp>
              <p:nvSpPr>
                <p:cNvPr id="19" name="Line 19"/>
                <p:cNvSpPr/>
                <p:nvPr/>
              </p:nvSpPr>
              <p:spPr>
                <a:xfrm>
                  <a:off x="5715000" y="3981450"/>
                  <a:ext cx="9525" cy="1028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028700">
                      <a:moveTo>
                        <a:pt x="0" y="0"/>
                      </a:moveTo>
                      <a:lnTo>
                        <a:pt x="0" y="1028700"/>
                      </a:lnTo>
                    </a:path>
                  </a:pathLst>
                </a:custGeom>
                <a:noFill/>
                <a:ln w="9525">
                  <a:solidFill>
                    <a:srgbClr val="E7EDF3"/>
                  </a:solidFill>
                </a:ln>
              </p:spPr>
            </p:sp>
            <p:sp>
              <p:nvSpPr>
                <p:cNvPr id="20" name="Line 20"/>
                <p:cNvSpPr/>
                <p:nvPr/>
              </p:nvSpPr>
              <p:spPr>
                <a:xfrm>
                  <a:off x="7524750" y="3981450"/>
                  <a:ext cx="9525" cy="1028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028700">
                      <a:moveTo>
                        <a:pt x="0" y="0"/>
                      </a:moveTo>
                      <a:lnTo>
                        <a:pt x="0" y="1028700"/>
                      </a:lnTo>
                    </a:path>
                  </a:pathLst>
                </a:custGeom>
                <a:noFill/>
                <a:ln w="9525">
                  <a:solidFill>
                    <a:srgbClr val="E7EDF3"/>
                  </a:solidFill>
                </a:ln>
              </p:spPr>
            </p:sp>
            <p:sp>
              <p:nvSpPr>
                <p:cNvPr id="21" name="Line 21"/>
                <p:cNvSpPr/>
                <p:nvPr/>
              </p:nvSpPr>
              <p:spPr>
                <a:xfrm>
                  <a:off x="9334500" y="3981450"/>
                  <a:ext cx="9525" cy="1028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028700">
                      <a:moveTo>
                        <a:pt x="0" y="0"/>
                      </a:moveTo>
                      <a:lnTo>
                        <a:pt x="0" y="1028700"/>
                      </a:lnTo>
                    </a:path>
                  </a:pathLst>
                </a:custGeom>
                <a:noFill/>
                <a:ln w="9525">
                  <a:solidFill>
                    <a:srgbClr val="E7EDF3"/>
                  </a:solidFill>
                </a:ln>
              </p:spPr>
            </p:sp>
            <p:sp>
              <p:nvSpPr>
                <p:cNvPr id="22" name="Line 22"/>
                <p:cNvSpPr/>
                <p:nvPr/>
              </p:nvSpPr>
              <p:spPr>
                <a:xfrm>
                  <a:off x="11144250" y="3981450"/>
                  <a:ext cx="9525" cy="1028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028700">
                      <a:moveTo>
                        <a:pt x="0" y="0"/>
                      </a:moveTo>
                      <a:lnTo>
                        <a:pt x="0" y="1028700"/>
                      </a:lnTo>
                    </a:path>
                  </a:pathLst>
                </a:custGeom>
                <a:noFill/>
                <a:ln w="9525">
                  <a:solidFill>
                    <a:srgbClr val="E7EDF3"/>
                  </a:solidFill>
                </a:ln>
              </p:spPr>
            </p:sp>
          </p:grpSp>
          <p:sp>
            <p:nvSpPr>
              <p:cNvPr id="24" name="Line 24"/>
              <p:cNvSpPr/>
              <p:nvPr/>
            </p:nvSpPr>
            <p:spPr>
              <a:xfrm>
                <a:off x="2095500" y="5010150"/>
                <a:ext cx="9048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048750" h="9525">
                    <a:moveTo>
                      <a:pt x="0" y="0"/>
                    </a:moveTo>
                    <a:lnTo>
                      <a:pt x="904875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grpSp>
            <p:nvGrpSpPr>
              <p:cNvPr id="31" name="Group 31"/>
              <p:cNvGrpSpPr/>
              <p:nvPr/>
            </p:nvGrpSpPr>
            <p:grpSpPr>
              <a:xfrm>
                <a:off x="2038664" y="5121275"/>
                <a:ext cx="9312354" cy="264033"/>
                <a:chOff x="2038664" y="5121275"/>
                <a:chExt cx="9312354" cy="264033"/>
              </a:xfrm>
            </p:grpSpPr>
            <p:sp>
              <p:nvSpPr>
                <p:cNvPr id="25" name="TextBox 25"/>
                <p:cNvSpPr txBox="1"/>
                <p:nvPr/>
              </p:nvSpPr>
              <p:spPr>
                <a:xfrm>
                  <a:off x="2038664" y="5121275"/>
                  <a:ext cx="113671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0</a:t>
                  </a:r>
                </a:p>
              </p:txBody>
            </p:sp>
            <p:sp>
              <p:nvSpPr>
                <p:cNvPr id="26" name="TextBox 26"/>
                <p:cNvSpPr txBox="1"/>
                <p:nvPr/>
              </p:nvSpPr>
              <p:spPr>
                <a:xfrm>
                  <a:off x="3798437" y="5121275"/>
                  <a:ext cx="213627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30</a:t>
                  </a:r>
                </a:p>
              </p:txBody>
            </p:sp>
            <p:sp>
              <p:nvSpPr>
                <p:cNvPr id="27" name="TextBox 27"/>
                <p:cNvSpPr txBox="1"/>
                <p:nvPr/>
              </p:nvSpPr>
              <p:spPr>
                <a:xfrm>
                  <a:off x="5608187" y="5121275"/>
                  <a:ext cx="213627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60</a:t>
                  </a:r>
                </a:p>
              </p:txBody>
            </p:sp>
            <p:sp>
              <p:nvSpPr>
                <p:cNvPr id="28" name="TextBox 28"/>
                <p:cNvSpPr txBox="1"/>
                <p:nvPr/>
              </p:nvSpPr>
              <p:spPr>
                <a:xfrm>
                  <a:off x="7417937" y="5121275"/>
                  <a:ext cx="213627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90</a:t>
                  </a:r>
                </a:p>
              </p:txBody>
            </p:sp>
            <p:sp>
              <p:nvSpPr>
                <p:cNvPr id="29" name="TextBox 29"/>
                <p:cNvSpPr txBox="1"/>
                <p:nvPr/>
              </p:nvSpPr>
              <p:spPr>
                <a:xfrm>
                  <a:off x="9177709" y="5121275"/>
                  <a:ext cx="313582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120</a:t>
                  </a:r>
                </a:p>
              </p:txBody>
            </p:sp>
            <p:sp>
              <p:nvSpPr>
                <p:cNvPr id="30" name="TextBox 30"/>
                <p:cNvSpPr txBox="1"/>
                <p:nvPr/>
              </p:nvSpPr>
              <p:spPr>
                <a:xfrm>
                  <a:off x="10937481" y="5121275"/>
                  <a:ext cx="413537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35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150s</a:t>
                  </a:r>
                </a:p>
              </p:txBody>
            </p:sp>
          </p:grpSp>
          <p:sp>
            <p:nvSpPr>
              <p:cNvPr id="32" name="TextBox 32"/>
              <p:cNvSpPr txBox="1"/>
              <p:nvPr/>
            </p:nvSpPr>
            <p:spPr>
              <a:xfrm>
                <a:off x="448056" y="4019550"/>
                <a:ext cx="108082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dirty="0">
                    <a:solidFill>
                      <a:srgbClr val="16834E"/>
                    </a:solidFill>
                    <a:latin typeface="+mn-lt"/>
                    <a:ea typeface="+mn-ea"/>
                    <a:cs typeface="+mn-cs"/>
                  </a:rPr>
                  <a:t>GT 48–64</a:t>
                </a:r>
              </a:p>
            </p:txBody>
          </p:sp>
          <p:sp>
            <p:nvSpPr>
              <p:cNvPr id="33" name="Rectangle 33"/>
              <p:cNvSpPr/>
              <p:nvPr/>
            </p:nvSpPr>
            <p:spPr>
              <a:xfrm>
                <a:off x="4991100" y="4019550"/>
                <a:ext cx="965200" cy="266700"/>
              </a:xfrm>
              <a:prstGeom prst="rect">
                <a:avLst/>
              </a:prstGeom>
              <a:solidFill>
                <a:srgbClr val="16834E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448056" y="4527550"/>
                <a:ext cx="124198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B74343"/>
                    </a:solidFill>
                    <a:latin typeface="+mn-lt"/>
                    <a:ea typeface="+mn-ea"/>
                    <a:cs typeface="+mn-cs"/>
                  </a:rPr>
                  <a:t>预测 52–67</a:t>
                </a:r>
              </a:p>
            </p:txBody>
          </p:sp>
          <p:sp>
            <p:nvSpPr>
              <p:cNvPr id="35" name="Rectangle 35"/>
              <p:cNvSpPr/>
              <p:nvPr/>
            </p:nvSpPr>
            <p:spPr>
              <a:xfrm>
                <a:off x="5232400" y="4514850"/>
                <a:ext cx="904875" cy="266700"/>
              </a:xfrm>
              <a:prstGeom prst="rect">
                <a:avLst/>
              </a:prstGeom>
              <a:solidFill>
                <a:srgbClr val="B74343"/>
              </a:solidFill>
              <a:ln>
                <a:noFill/>
              </a:ln>
            </p:spPr>
          </p:sp>
        </p:grpSp>
      </p:grpSp>
      <p:grpSp>
        <p:nvGrpSpPr>
          <p:cNvPr id="40" name="task-caveat"/>
          <p:cNvGrpSpPr/>
          <p:nvPr/>
        </p:nvGrpSpPr>
        <p:grpSpPr>
          <a:xfrm>
            <a:off x="450342" y="5673725"/>
            <a:ext cx="6347250" cy="559308"/>
            <a:chOff x="450342" y="5673725"/>
            <a:chExt cx="6347250" cy="559308"/>
          </a:xfrm>
        </p:grpSpPr>
        <p:sp>
          <p:nvSpPr>
            <p:cNvPr id="38" name="TextBox 38"/>
            <p:cNvSpPr txBox="1"/>
            <p:nvPr/>
          </p:nvSpPr>
          <p:spPr>
            <a:xfrm>
              <a:off x="450342" y="5673725"/>
              <a:ext cx="63472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同一样本旧整表全 0；这里任务与输出均改变，不能作为严格单变量精度提升。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50342" y="5969000"/>
              <a:ext cx="42663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本轮使用正 query，尚未验证负 query 的拒答能力。</a:t>
              </a:r>
            </a:p>
          </p:txBody>
        </p:sp>
      </p:grpSp>
      <p:grpSp>
        <p:nvGrpSpPr>
          <p:cNvPr id="43" name="footer"/>
          <p:cNvGrpSpPr/>
          <p:nvPr/>
        </p:nvGrpSpPr>
        <p:grpSpPr>
          <a:xfrm>
            <a:off x="451104" y="6438900"/>
            <a:ext cx="11289792" cy="234696"/>
            <a:chOff x="451104" y="6438900"/>
            <a:chExt cx="11289792" cy="234696"/>
          </a:xfrm>
        </p:grpSpPr>
        <p:sp>
          <p:nvSpPr>
            <p:cNvPr id="41" name="TextBox 41"/>
            <p:cNvSpPr txBox="1"/>
            <p:nvPr/>
          </p:nvSpPr>
          <p:spPr>
            <a:xfrm>
              <a:off x="451104" y="6438900"/>
              <a:ext cx="35308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依据：Grounding 主线说明与首轮结果（10.29）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187532" y="643890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441198" y="301625"/>
            <a:ext cx="7593929" cy="1000252"/>
            <a:chOff x="441198" y="301625"/>
            <a:chExt cx="7593929" cy="1000252"/>
          </a:xfrm>
        </p:grpSpPr>
        <p:sp>
          <p:nvSpPr>
            <p:cNvPr id="2" name="TextBox 2"/>
            <p:cNvSpPr txBox="1"/>
            <p:nvPr/>
          </p:nvSpPr>
          <p:spPr>
            <a:xfrm>
              <a:off x="450342" y="301625"/>
              <a:ext cx="24300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05 / Grounding 开发样本结果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685800"/>
              <a:ext cx="759392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扩样获得 52 条反例，100 条未全部完成</a:t>
              </a:r>
            </a:p>
          </p:txBody>
        </p:sp>
      </p:grpSp>
      <p:graphicFrame>
        <p:nvGraphicFramePr>
          <p:cNvPr id="5" name="grounding-results"/>
          <p:cNvGraphicFramePr>
            <a:graphicFrameLocks noGrp="1"/>
          </p:cNvGraphicFramePr>
          <p:nvPr/>
        </p:nvGraphicFramePr>
        <p:xfrm>
          <a:off x="457200" y="1866900"/>
          <a:ext cx="11277600" cy="24003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381250"/>
                <a:gridCol w="3048000"/>
                <a:gridCol w="1714500"/>
                <a:gridCol w="1714500"/>
                <a:gridCol w="2419350"/>
              </a:tblGrid>
              <a:tr h="609600">
                <a:tc>
                  <a:txBody>
                    <a:bodyPr/>
                    <a:lstStyle/>
                    <a:p>
                      <a:pPr/>
                      <a:r>
                        <a:rPr lang="zh-CN"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样本</a:t>
                      </a:r>
                    </a:p>
                  </a:txBody>
                  <a:tcPr anchor="ctr" marL="190500" marR="1905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执行情况</a:t>
                      </a:r>
                    </a:p>
                  </a:txBody>
                  <a:tcPr anchor="ctr" marL="190500" marR="1905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R1@0.5</a:t>
                      </a:r>
                    </a:p>
                  </a:txBody>
                  <a:tcPr anchor="ctr" marL="190500" marR="1905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R1@0.7</a:t>
                      </a:r>
                    </a:p>
                  </a:txBody>
                  <a:tcPr anchor="ctr" marL="190500" marR="1905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合法反例数</a:t>
                      </a:r>
                    </a:p>
                  </a:txBody>
                  <a:tcPr anchor="ctr" marL="190500" marR="1905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895350">
                <a:tc>
                  <a:txBody>
                    <a:bodyPr/>
                    <a:lstStyle/>
                    <a:p>
                      <a:pPr/>
                      <a:r>
                        <a:rPr lang="zh-CN" sz="1800" b="1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首轮 QV20</a:t>
                      </a:r>
                    </a:p>
                  </a:txBody>
                  <a:tcPr anchor="ctr" marL="190500" marR="1905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800" b="0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20/20 合法</a:t>
                      </a:r>
                    </a:p>
                  </a:txBody>
                  <a:tcPr anchor="ctr" marL="190500" marR="1905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800" b="0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70%</a:t>
                      </a:r>
                    </a:p>
                  </a:txBody>
                  <a:tcPr anchor="ctr" marL="190500" marR="1905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800" b="0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50%</a:t>
                      </a:r>
                    </a:p>
                  </a:txBody>
                  <a:tcPr anchor="ctr" marL="190500" marR="1905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800" b="0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 条</a:t>
                      </a:r>
                    </a:p>
                  </a:txBody>
                  <a:tcPr anchor="ctr" marL="190500" marR="1905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</a:tr>
              <a:tr h="895350">
                <a:tc>
                  <a:txBody>
                    <a:bodyPr/>
                    <a:lstStyle/>
                    <a:p>
                      <a:pPr/>
                      <a:r>
                        <a:rPr lang="zh-CN" sz="1800" b="1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 100 条</a:t>
                      </a:r>
                    </a:p>
                  </a:txBody>
                  <a:tcPr anchor="ctr" marL="190500" marR="1905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800" b="0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96 尝试 / 94 合法</a:t>
                      </a:r>
                    </a:p>
                  </a:txBody>
                  <a:tcPr anchor="ctr" marL="190500" marR="1905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800" b="0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42%</a:t>
                      </a:r>
                    </a:p>
                  </a:txBody>
                  <a:tcPr anchor="ctr" marL="190500" marR="1905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800" b="0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28%</a:t>
                      </a:r>
                    </a:p>
                  </a:txBody>
                  <a:tcPr anchor="ctr" marL="190500" marR="1905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800" b="0">
                          <a:solidFill>
                            <a:schemeClr val="dk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52 条</a:t>
                      </a:r>
                    </a:p>
                  </a:txBody>
                  <a:tcPr anchor="ctr" marL="190500" marR="1905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7" name="full-denominator"/>
          <p:cNvGrpSpPr/>
          <p:nvPr/>
        </p:nvGrpSpPr>
        <p:grpSpPr>
          <a:xfrm>
            <a:off x="445770" y="4711700"/>
            <a:ext cx="6821024" cy="440055"/>
            <a:chOff x="445770" y="4711700"/>
            <a:chExt cx="6821024" cy="440055"/>
          </a:xfrm>
        </p:grpSpPr>
        <p:sp>
          <p:nvSpPr>
            <p:cNvPr id="6" name="TextBox 6"/>
            <p:cNvSpPr txBox="1"/>
            <p:nvPr/>
          </p:nvSpPr>
          <p:spPr>
            <a:xfrm>
              <a:off x="445770" y="4711700"/>
              <a:ext cx="682102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100 = 94 合法 + 1 OOM + 1 非法区间 + 4 未尝试</a:t>
              </a:r>
            </a:p>
          </p:txBody>
        </p:sp>
      </p:grpSp>
      <p:grpSp>
        <p:nvGrpSpPr>
          <p:cNvPr id="9" name="cohort-limits"/>
          <p:cNvGrpSpPr/>
          <p:nvPr/>
        </p:nvGrpSpPr>
        <p:grpSpPr>
          <a:xfrm>
            <a:off x="448056" y="5381625"/>
            <a:ext cx="8122158" cy="704469"/>
            <a:chOff x="448056" y="5381625"/>
            <a:chExt cx="8122158" cy="704469"/>
          </a:xfrm>
        </p:grpSpPr>
        <p:sp>
          <p:nvSpPr>
            <p:cNvPr id="8" name="TextBox 8"/>
            <p:cNvSpPr txBox="1"/>
            <p:nvPr/>
          </p:nvSpPr>
          <p:spPr>
            <a:xfrm>
              <a:off x="448056" y="5381625"/>
              <a:ext cx="8122158" cy="7044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75"/>
                </a:lnSpc>
              </a:pPr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扩样 R1 按完整 100 条计算，技术缺失计零；反例定义为合法输出且 IoU &lt; 0.5。</a:t>
              </a:r>
              <a:b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两批 query 和源视频不重叠；均为 train 开发诊断，差值不能归因于方法退化。</a:t>
              </a:r>
            </a:p>
          </p:txBody>
        </p:sp>
      </p:grpSp>
      <p:grpSp>
        <p:nvGrpSpPr>
          <p:cNvPr id="12" name="footer"/>
          <p:cNvGrpSpPr/>
          <p:nvPr/>
        </p:nvGrpSpPr>
        <p:grpSpPr>
          <a:xfrm>
            <a:off x="451104" y="6438900"/>
            <a:ext cx="11289792" cy="234696"/>
            <a:chOff x="451104" y="6438900"/>
            <a:chExt cx="11289792" cy="234696"/>
          </a:xfrm>
        </p:grpSpPr>
        <p:sp>
          <p:nvSpPr>
            <p:cNvPr id="10" name="TextBox 10"/>
            <p:cNvSpPr txBox="1"/>
            <p:nvPr/>
          </p:nvSpPr>
          <p:spPr>
            <a:xfrm>
              <a:off x="451104" y="6438900"/>
              <a:ext cx="48635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依据：Grounding 首轮与扩样 100 结果（10.29）；非官方全量验证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187532" y="643890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441198" y="301625"/>
            <a:ext cx="7016157" cy="1000252"/>
            <a:chOff x="441198" y="301625"/>
            <a:chExt cx="7016157" cy="1000252"/>
          </a:xfrm>
        </p:grpSpPr>
        <p:sp>
          <p:nvSpPr>
            <p:cNvPr id="2" name="TextBox 2"/>
            <p:cNvSpPr txBox="1"/>
            <p:nvPr/>
          </p:nvSpPr>
          <p:spPr>
            <a:xfrm>
              <a:off x="450342" y="301625"/>
              <a:ext cx="20037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06 / 全部 52 条反例初筛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685800"/>
              <a:ext cx="701615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52 条指标失败，不能全部归因于模型</a:t>
              </a:r>
            </a:p>
          </p:txBody>
        </p:sp>
      </p:grpSp>
      <p:graphicFrame>
        <p:nvGraphicFramePr>
          <p:cNvPr id="5" name="failure-counts"/>
          <p:cNvGraphicFramePr>
            <a:graphicFrameLocks noGrp="1"/>
          </p:cNvGraphicFramePr>
          <p:nvPr/>
        </p:nvGraphicFramePr>
        <p:xfrm>
          <a:off x="457200" y="1771650"/>
          <a:ext cx="7572375" cy="367665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pSp>
        <p:nvGrpSpPr>
          <p:cNvPr id="10" name="zero-iou-caution"/>
          <p:cNvGrpSpPr/>
          <p:nvPr/>
        </p:nvGrpSpPr>
        <p:grpSpPr>
          <a:xfrm>
            <a:off x="8439150" y="1771650"/>
            <a:ext cx="3295650" cy="3619500"/>
            <a:chOff x="8439150" y="1771650"/>
            <a:chExt cx="3295650" cy="3619500"/>
          </a:xfrm>
        </p:grpSpPr>
        <p:sp>
          <p:nvSpPr>
            <p:cNvPr id="6" name="Rectangle 6"/>
            <p:cNvSpPr/>
            <p:nvPr/>
          </p:nvSpPr>
          <p:spPr>
            <a:xfrm>
              <a:off x="8439150" y="1771650"/>
              <a:ext cx="3295650" cy="3619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686800" y="2203450"/>
              <a:ext cx="1937857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5 / 14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695182" y="3114675"/>
              <a:ext cx="1621536" cy="8107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零 IoU 反例中</a:t>
              </a:r>
              <a:b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仍有相关事件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696706" y="4156075"/>
              <a:ext cx="1847088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零重叠不能自动</a:t>
              </a:r>
              <a:b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等同于内容找错。</a:t>
              </a:r>
            </a:p>
          </p:txBody>
        </p:sp>
      </p:grpSp>
      <p:grpSp>
        <p:nvGrpSpPr>
          <p:cNvPr id="13" name="review-limits"/>
          <p:cNvGrpSpPr/>
          <p:nvPr/>
        </p:nvGrpSpPr>
        <p:grpSpPr>
          <a:xfrm>
            <a:off x="450342" y="5692775"/>
            <a:ext cx="6874288" cy="559308"/>
            <a:chOff x="450342" y="5692775"/>
            <a:chExt cx="6874288" cy="559308"/>
          </a:xfrm>
        </p:grpSpPr>
        <p:sp>
          <p:nvSpPr>
            <p:cNvPr id="11" name="TextBox 11"/>
            <p:cNvSpPr txBox="1"/>
            <p:nvPr/>
          </p:nvSpPr>
          <p:spPr>
            <a:xfrm>
              <a:off x="450342" y="5692775"/>
              <a:ext cx="68742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52/52 基于原始 64 帧的助手核查，尚无独立人工复核；分类数量不是人工标注真值。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50342" y="5988050"/>
              <a:ext cx="59740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未更改发布 GT 或重算有利指标，也不能外推为整个数据集的标签错误率。</a:t>
              </a:r>
            </a:p>
          </p:txBody>
        </p:sp>
      </p:grpSp>
      <p:grpSp>
        <p:nvGrpSpPr>
          <p:cNvPr id="16" name="footer"/>
          <p:cNvGrpSpPr/>
          <p:nvPr/>
        </p:nvGrpSpPr>
        <p:grpSpPr>
          <a:xfrm>
            <a:off x="451104" y="6438900"/>
            <a:ext cx="11289792" cy="234696"/>
            <a:chOff x="451104" y="6438900"/>
            <a:chExt cx="11289792" cy="234696"/>
          </a:xfrm>
        </p:grpSpPr>
        <p:sp>
          <p:nvSpPr>
            <p:cNvPr id="14" name="TextBox 14"/>
            <p:cNvSpPr txBox="1"/>
            <p:nvPr/>
          </p:nvSpPr>
          <p:spPr>
            <a:xfrm>
              <a:off x="451104" y="6438900"/>
              <a:ext cx="34288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依据：52 条反例分析与逐例审核记录（10.29）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187532" y="643890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07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441198" y="301625"/>
            <a:ext cx="6392799" cy="1000252"/>
            <a:chOff x="441198" y="301625"/>
            <a:chExt cx="6392799" cy="1000252"/>
          </a:xfrm>
        </p:grpSpPr>
        <p:sp>
          <p:nvSpPr>
            <p:cNvPr id="2" name="TextBox 2"/>
            <p:cNvSpPr txBox="1"/>
            <p:nvPr/>
          </p:nvSpPr>
          <p:spPr>
            <a:xfrm>
              <a:off x="450342" y="301625"/>
              <a:ext cx="24217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07 / 案例一：较明确定位错误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685800"/>
              <a:ext cx="639279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真正定位错误：鸡舍被定位成花景</a:t>
              </a:r>
            </a:p>
          </p:txBody>
        </p:sp>
      </p:grpSp>
      <p:grpSp>
        <p:nvGrpSpPr>
          <p:cNvPr id="6" name="case-evidence"/>
          <p:cNvGrpSpPr/>
          <p:nvPr/>
        </p:nvGrpSpPr>
        <p:grpSpPr>
          <a:xfrm>
            <a:off x="457200" y="1733550"/>
            <a:ext cx="7429500" cy="4431632"/>
            <a:chOff x="457200" y="1733550"/>
            <a:chExt cx="7429500" cy="4431632"/>
          </a:xfrm>
        </p:grpSpPr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7200" y="1733550"/>
              <a:ext cx="7429500" cy="4431632"/>
            </a:xfrm>
            <a:prstGeom prst="rect">
              <a:avLst/>
            </a:prstGeom>
          </p:spPr>
        </p:pic>
      </p:grpSp>
      <p:grpSp>
        <p:nvGrpSpPr>
          <p:cNvPr id="15" name="case-interpretation"/>
          <p:cNvGrpSpPr/>
          <p:nvPr/>
        </p:nvGrpSpPr>
        <p:grpSpPr>
          <a:xfrm>
            <a:off x="8218932" y="1806575"/>
            <a:ext cx="3515868" cy="4112133"/>
            <a:chOff x="8218932" y="1806575"/>
            <a:chExt cx="3515868" cy="4112133"/>
          </a:xfrm>
        </p:grpSpPr>
        <p:sp>
          <p:nvSpPr>
            <p:cNvPr id="7" name="TextBox 7"/>
            <p:cNvSpPr txBox="1"/>
            <p:nvPr/>
          </p:nvSpPr>
          <p:spPr>
            <a:xfrm>
              <a:off x="8222742" y="1806575"/>
              <a:ext cx="22581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qid 448｜查询：鸡在鸡舍里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218932" y="2212975"/>
              <a:ext cx="188091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6834E"/>
                  </a:solidFill>
                  <a:latin typeface="+mn-lt"/>
                  <a:ea typeface="+mn-ea"/>
                  <a:cs typeface="+mn-cs"/>
                </a:rPr>
                <a:t>GT　92–112 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218932" y="2660650"/>
              <a:ext cx="226457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B74343"/>
                  </a:solidFill>
                  <a:latin typeface="+mn-lt"/>
                  <a:ea typeface="+mn-ea"/>
                  <a:cs typeface="+mn-cs"/>
                </a:rPr>
                <a:t>预测　130–145 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220456" y="3171825"/>
              <a:ext cx="79781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IoU = 0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8229600" y="3676650"/>
              <a:ext cx="3505200" cy="9525"/>
            </a:xfrm>
            <a:custGeom>
              <a:avLst/>
              <a:gdLst/>
              <a:ahLst/>
              <a:cxnLst/>
              <a:rect l="l" t="t" r="r" b="b"/>
              <a:pathLst>
                <a:path w="3505200" h="9525">
                  <a:moveTo>
                    <a:pt x="0" y="0"/>
                  </a:moveTo>
                  <a:lnTo>
                    <a:pt x="350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220456" y="3841750"/>
              <a:ext cx="2532888" cy="10378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GT 可见围栏内的鸡；</a:t>
              </a:r>
              <a:b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预测主要是道路、花朵</a:t>
              </a:r>
              <a:b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和文字牌，事件不匹配。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220456" y="517525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待检验：对象与场景核验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222742" y="5654675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本页展示失败证据，尚无修复结果。</a:t>
              </a:r>
            </a:p>
          </p:txBody>
        </p:sp>
      </p:grpSp>
      <p:grpSp>
        <p:nvGrpSpPr>
          <p:cNvPr id="18" name="footer"/>
          <p:cNvGrpSpPr/>
          <p:nvPr/>
        </p:nvGrpSpPr>
        <p:grpSpPr>
          <a:xfrm>
            <a:off x="451104" y="6438900"/>
            <a:ext cx="11289792" cy="234696"/>
            <a:chOff x="451104" y="6438900"/>
            <a:chExt cx="11289792" cy="234696"/>
          </a:xfrm>
        </p:grpSpPr>
        <p:sp>
          <p:nvSpPr>
            <p:cNvPr id="16" name="TextBox 16"/>
            <p:cNvSpPr txBox="1"/>
            <p:nvPr/>
          </p:nvSpPr>
          <p:spPr>
            <a:xfrm>
              <a:off x="451104" y="6438900"/>
              <a:ext cx="42332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依据：qid 448 原输入帧证据卡与反例审核；GT 为发布标注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187532" y="643890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08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441198" y="301625"/>
            <a:ext cx="7664958" cy="1000252"/>
            <a:chOff x="441198" y="301625"/>
            <a:chExt cx="7664958" cy="1000252"/>
          </a:xfrm>
        </p:grpSpPr>
        <p:sp>
          <p:nvSpPr>
            <p:cNvPr id="2" name="TextBox 2"/>
            <p:cNvSpPr txBox="1"/>
            <p:nvPr/>
          </p:nvSpPr>
          <p:spPr>
            <a:xfrm>
              <a:off x="450342" y="301625"/>
              <a:ext cx="24217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08 / 案例二：标注或范围疑点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685800"/>
              <a:ext cx="766495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疑似漏标：模型找到了前一次布置圣诞树</a:t>
              </a:r>
            </a:p>
          </p:txBody>
        </p:sp>
      </p:grpSp>
      <p:grpSp>
        <p:nvGrpSpPr>
          <p:cNvPr id="6" name="case-evidence"/>
          <p:cNvGrpSpPr/>
          <p:nvPr/>
        </p:nvGrpSpPr>
        <p:grpSpPr>
          <a:xfrm>
            <a:off x="457200" y="1733550"/>
            <a:ext cx="7429500" cy="4431632"/>
            <a:chOff x="457200" y="1733550"/>
            <a:chExt cx="7429500" cy="4431632"/>
          </a:xfrm>
        </p:grpSpPr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7200" y="1733550"/>
              <a:ext cx="7429500" cy="4431632"/>
            </a:xfrm>
            <a:prstGeom prst="rect">
              <a:avLst/>
            </a:prstGeom>
          </p:spPr>
        </p:pic>
      </p:grpSp>
      <p:grpSp>
        <p:nvGrpSpPr>
          <p:cNvPr id="15" name="case-interpretation"/>
          <p:cNvGrpSpPr/>
          <p:nvPr/>
        </p:nvGrpSpPr>
        <p:grpSpPr>
          <a:xfrm>
            <a:off x="8218932" y="1806575"/>
            <a:ext cx="3515868" cy="4112133"/>
            <a:chOff x="8218932" y="1806575"/>
            <a:chExt cx="3515868" cy="4112133"/>
          </a:xfrm>
        </p:grpSpPr>
        <p:sp>
          <p:nvSpPr>
            <p:cNvPr id="7" name="TextBox 7"/>
            <p:cNvSpPr txBox="1"/>
            <p:nvPr/>
          </p:nvSpPr>
          <p:spPr>
            <a:xfrm>
              <a:off x="8222742" y="1806575"/>
              <a:ext cx="18129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qid 3676｜布置圣诞树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218932" y="2212975"/>
              <a:ext cx="204417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6834E"/>
                  </a:solidFill>
                  <a:latin typeface="+mn-lt"/>
                  <a:ea typeface="+mn-ea"/>
                  <a:cs typeface="+mn-cs"/>
                </a:rPr>
                <a:t>GT　118–144 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218932" y="2660650"/>
              <a:ext cx="177479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B74343"/>
                  </a:solidFill>
                  <a:latin typeface="+mn-lt"/>
                  <a:ea typeface="+mn-ea"/>
                  <a:cs typeface="+mn-cs"/>
                </a:rPr>
                <a:t>预测　0–24 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220456" y="3171825"/>
              <a:ext cx="79781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IoU = 0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8229600" y="3676650"/>
              <a:ext cx="3505200" cy="9525"/>
            </a:xfrm>
            <a:custGeom>
              <a:avLst/>
              <a:gdLst/>
              <a:ahLst/>
              <a:cxnLst/>
              <a:rect l="l" t="t" r="r" b="b"/>
              <a:pathLst>
                <a:path w="3505200" h="9525">
                  <a:moveTo>
                    <a:pt x="0" y="0"/>
                  </a:moveTo>
                  <a:lnTo>
                    <a:pt x="350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220456" y="3841750"/>
              <a:ext cx="2532888" cy="10378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5.83、10.53、15.23 s</a:t>
              </a:r>
              <a:b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可见戴圣诞帽女子整理</a:t>
              </a:r>
              <a:b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小树，预测内容有依据。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220456" y="5175250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待人工确认动作与实例范围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222742" y="5654675"/>
              <a:ext cx="30662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这是漏标疑点，尚不能确认 GT 错误。</a:t>
              </a:r>
            </a:p>
          </p:txBody>
        </p:sp>
      </p:grpSp>
      <p:grpSp>
        <p:nvGrpSpPr>
          <p:cNvPr id="18" name="footer"/>
          <p:cNvGrpSpPr/>
          <p:nvPr/>
        </p:nvGrpSpPr>
        <p:grpSpPr>
          <a:xfrm>
            <a:off x="451104" y="6438900"/>
            <a:ext cx="11289792" cy="234696"/>
            <a:chOff x="451104" y="6438900"/>
            <a:chExt cx="11289792" cy="234696"/>
          </a:xfrm>
        </p:grpSpPr>
        <p:sp>
          <p:nvSpPr>
            <p:cNvPr id="16" name="TextBox 16"/>
            <p:cNvSpPr txBox="1"/>
            <p:nvPr/>
          </p:nvSpPr>
          <p:spPr>
            <a:xfrm>
              <a:off x="451104" y="6438900"/>
              <a:ext cx="41605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依据：qid 3676 原输入帧证据卡与反例审核；保留发布 GT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187532" y="643890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09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441198" y="301625"/>
            <a:ext cx="5544693" cy="1000252"/>
            <a:chOff x="441198" y="301625"/>
            <a:chExt cx="5544693" cy="1000252"/>
          </a:xfrm>
        </p:grpSpPr>
        <p:sp>
          <p:nvSpPr>
            <p:cNvPr id="2" name="TextBox 2"/>
            <p:cNvSpPr txBox="1"/>
            <p:nvPr/>
          </p:nvSpPr>
          <p:spPr>
            <a:xfrm>
              <a:off x="450342" y="301625"/>
              <a:ext cx="27852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09 / 案例三：模型与标注问题并存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685800"/>
              <a:ext cx="554469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边界与标注问题可能同时存在</a:t>
              </a:r>
            </a:p>
          </p:txBody>
        </p:sp>
      </p:grpSp>
      <p:grpSp>
        <p:nvGrpSpPr>
          <p:cNvPr id="6" name="case-evidence"/>
          <p:cNvGrpSpPr/>
          <p:nvPr/>
        </p:nvGrpSpPr>
        <p:grpSpPr>
          <a:xfrm>
            <a:off x="457200" y="1733550"/>
            <a:ext cx="7429500" cy="4431632"/>
            <a:chOff x="457200" y="1733550"/>
            <a:chExt cx="7429500" cy="4431632"/>
          </a:xfrm>
        </p:grpSpPr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7200" y="1733550"/>
              <a:ext cx="7429500" cy="4431632"/>
            </a:xfrm>
            <a:prstGeom prst="rect">
              <a:avLst/>
            </a:prstGeom>
          </p:spPr>
        </p:pic>
      </p:grpSp>
      <p:grpSp>
        <p:nvGrpSpPr>
          <p:cNvPr id="15" name="case-interpretation"/>
          <p:cNvGrpSpPr/>
          <p:nvPr/>
        </p:nvGrpSpPr>
        <p:grpSpPr>
          <a:xfrm>
            <a:off x="8220456" y="1806575"/>
            <a:ext cx="3514344" cy="4035933"/>
            <a:chOff x="8220456" y="1806575"/>
            <a:chExt cx="3514344" cy="4035933"/>
          </a:xfrm>
        </p:grpSpPr>
        <p:sp>
          <p:nvSpPr>
            <p:cNvPr id="7" name="TextBox 7"/>
            <p:cNvSpPr txBox="1"/>
            <p:nvPr/>
          </p:nvSpPr>
          <p:spPr>
            <a:xfrm>
              <a:off x="8222742" y="1806575"/>
              <a:ext cx="19946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qid 5466｜展示编辑软件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220456" y="2184400"/>
              <a:ext cx="21344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6834E"/>
                  </a:solidFill>
                  <a:latin typeface="+mn-lt"/>
                  <a:ea typeface="+mn-ea"/>
                  <a:cs typeface="+mn-cs"/>
                </a:rPr>
                <a:t>GT　0–8、48–62 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220456" y="2584450"/>
              <a:ext cx="166119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B74343"/>
                  </a:solidFill>
                  <a:latin typeface="+mn-lt"/>
                  <a:ea typeface="+mn-ea"/>
                  <a:cs typeface="+mn-cs"/>
                </a:rPr>
                <a:t>预测　38–57 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220456" y="2971800"/>
              <a:ext cx="148932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IoU = 0.3750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8229600" y="3467100"/>
              <a:ext cx="3505200" cy="9525"/>
            </a:xfrm>
            <a:custGeom>
              <a:avLst/>
              <a:gdLst/>
              <a:ahLst/>
              <a:cxnLst/>
              <a:rect l="l" t="t" r="r" b="b"/>
              <a:pathLst>
                <a:path w="3505200" h="9525">
                  <a:moveTo>
                    <a:pt x="0" y="0"/>
                  </a:moveTo>
                  <a:lnTo>
                    <a:pt x="350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220456" y="3613150"/>
              <a:ext cx="3195828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起点疑点：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38.64 s 已有软件，</a:t>
              </a:r>
              <a:b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GT 从 48 s 开始可能偏晚。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220456" y="4498975"/>
              <a:ext cx="3115818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终点错误：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约 59 s 仍有软件，</a:t>
              </a:r>
              <a:b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预测在 57 s 结束偏早。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222742" y="5578475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精确秒级边界仍需连续视频核验。</a:t>
              </a:r>
            </a:p>
          </p:txBody>
        </p:sp>
      </p:grpSp>
      <p:grpSp>
        <p:nvGrpSpPr>
          <p:cNvPr id="18" name="footer"/>
          <p:cNvGrpSpPr/>
          <p:nvPr/>
        </p:nvGrpSpPr>
        <p:grpSpPr>
          <a:xfrm>
            <a:off x="451104" y="6438900"/>
            <a:ext cx="11289792" cy="234696"/>
            <a:chOff x="451104" y="6438900"/>
            <a:chExt cx="11289792" cy="234696"/>
          </a:xfrm>
        </p:grpSpPr>
        <p:sp>
          <p:nvSpPr>
            <p:cNvPr id="16" name="TextBox 16"/>
            <p:cNvSpPr txBox="1"/>
            <p:nvPr/>
          </p:nvSpPr>
          <p:spPr>
            <a:xfrm>
              <a:off x="451104" y="6438900"/>
              <a:ext cx="31138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依据：qid 5466 原输入帧证据卡与反例审核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187532" y="643890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441198" y="301625"/>
            <a:ext cx="6392799" cy="1000252"/>
            <a:chOff x="441198" y="301625"/>
            <a:chExt cx="6392799" cy="1000252"/>
          </a:xfrm>
        </p:grpSpPr>
        <p:sp>
          <p:nvSpPr>
            <p:cNvPr id="2" name="TextBox 2"/>
            <p:cNvSpPr txBox="1"/>
            <p:nvPr/>
          </p:nvSpPr>
          <p:spPr>
            <a:xfrm>
              <a:off x="450342" y="301625"/>
              <a:ext cx="16947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10 / 已解决与未解决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685800"/>
              <a:ext cx="639279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分批执行可用，定位问题仍需验证</a:t>
              </a:r>
            </a:p>
          </p:txBody>
        </p:sp>
      </p:grpSp>
      <p:grpSp>
        <p:nvGrpSpPr>
          <p:cNvPr id="10" name="completed-engineering"/>
          <p:cNvGrpSpPr/>
          <p:nvPr/>
        </p:nvGrpSpPr>
        <p:grpSpPr>
          <a:xfrm>
            <a:off x="445770" y="1882775"/>
            <a:ext cx="4964430" cy="3215894"/>
            <a:chOff x="445770" y="1882775"/>
            <a:chExt cx="4964430" cy="3215894"/>
          </a:xfrm>
        </p:grpSpPr>
        <p:sp>
          <p:nvSpPr>
            <p:cNvPr id="5" name="TextBox 5"/>
            <p:cNvSpPr txBox="1"/>
            <p:nvPr/>
          </p:nvSpPr>
          <p:spPr>
            <a:xfrm>
              <a:off x="445770" y="1882775"/>
              <a:ext cx="244602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已处理的运行保障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457200" y="2390775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448056" y="2651125"/>
              <a:ext cx="366765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GPU 编号兼容、输入与源码冻结。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48056" y="3336925"/>
              <a:ext cx="3447288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分批冷启动 worker；</a:t>
              </a:r>
              <a:b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保留账本、失败和进程退出记录。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48056" y="4403725"/>
              <a:ext cx="3218688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非法区间严格拒绝，</a:t>
              </a:r>
              <a:b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没有静默交换端点或额外重试。</a:t>
              </a:r>
            </a:p>
          </p:txBody>
        </p:sp>
      </p:grpSp>
      <p:grpSp>
        <p:nvGrpSpPr>
          <p:cNvPr id="16" name="unresolved-engineering-and-evidence"/>
          <p:cNvGrpSpPr/>
          <p:nvPr/>
        </p:nvGrpSpPr>
        <p:grpSpPr>
          <a:xfrm>
            <a:off x="6179820" y="1882775"/>
            <a:ext cx="5554980" cy="3273044"/>
            <a:chOff x="6179820" y="1882775"/>
            <a:chExt cx="5554980" cy="3273044"/>
          </a:xfrm>
        </p:grpSpPr>
        <p:sp>
          <p:nvSpPr>
            <p:cNvPr id="11" name="TextBox 11"/>
            <p:cNvSpPr txBox="1"/>
            <p:nvPr/>
          </p:nvSpPr>
          <p:spPr>
            <a:xfrm>
              <a:off x="6179820" y="1882775"/>
              <a:ext cx="214312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仍未解决的问题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6191250" y="2390775"/>
              <a:ext cx="5543550" cy="9525"/>
            </a:xfrm>
            <a:custGeom>
              <a:avLst/>
              <a:gdLst/>
              <a:ahLst/>
              <a:cxnLst/>
              <a:rect l="l" t="t" r="r" b="b"/>
              <a:pathLst>
                <a:path w="5543550" h="9525">
                  <a:moveTo>
                    <a:pt x="0" y="0"/>
                  </a:moveTo>
                  <a:lnTo>
                    <a:pt x="55435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182106" y="2613025"/>
              <a:ext cx="3275838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OOM：缓存累积仍是主要线索，</a:t>
              </a:r>
              <a:b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尚无独立 GPU 修复验证。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182106" y="3536950"/>
              <a:ext cx="4098798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出现非法输出 [150,17]；扩样余 4 条、</a:t>
              </a:r>
              <a:b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TVSum Direct 余 5 条未补跑。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182106" y="4460875"/>
              <a:ext cx="3675888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输入仅 64 帧、无声音；动作含义与</a:t>
              </a:r>
              <a:b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精确边界仍需连续视频和人工核验。</a:t>
              </a:r>
            </a:p>
          </p:txBody>
        </p:sp>
      </p:grpSp>
      <p:grpSp>
        <p:nvGrpSpPr>
          <p:cNvPr id="19" name="scientific-limit"/>
          <p:cNvGrpSpPr/>
          <p:nvPr/>
        </p:nvGrpSpPr>
        <p:grpSpPr>
          <a:xfrm>
            <a:off x="457200" y="5543550"/>
            <a:ext cx="11277600" cy="666750"/>
            <a:chOff x="457200" y="5543550"/>
            <a:chExt cx="11277600" cy="666750"/>
          </a:xfrm>
        </p:grpSpPr>
        <p:sp>
          <p:nvSpPr>
            <p:cNvPr id="17" name="Rectangle 17"/>
            <p:cNvSpPr/>
            <p:nvPr/>
          </p:nvSpPr>
          <p:spPr>
            <a:xfrm>
              <a:off x="457200" y="5543550"/>
              <a:ext cx="11277600" cy="666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75132" y="5727700"/>
              <a:ext cx="800448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本阶段产出是可追溯的基线与反例；Agent 修复效果尚未验证。</a:t>
              </a:r>
            </a:p>
          </p:txBody>
        </p:sp>
      </p:grpSp>
      <p:grpSp>
        <p:nvGrpSpPr>
          <p:cNvPr id="22" name="footer"/>
          <p:cNvGrpSpPr/>
          <p:nvPr/>
        </p:nvGrpSpPr>
        <p:grpSpPr>
          <a:xfrm>
            <a:off x="451104" y="6438900"/>
            <a:ext cx="11289792" cy="234696"/>
            <a:chOff x="451104" y="6438900"/>
            <a:chExt cx="11289792" cy="234696"/>
          </a:xfrm>
        </p:grpSpPr>
        <p:sp>
          <p:nvSpPr>
            <p:cNvPr id="20" name="TextBox 20"/>
            <p:cNvSpPr txBox="1"/>
            <p:nvPr/>
          </p:nvSpPr>
          <p:spPr>
            <a:xfrm>
              <a:off x="451104" y="6438900"/>
              <a:ext cx="41175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依据：Direct 运行报告、Grounding 扩样报告与反例分析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187532" y="643890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11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441198" y="301625"/>
            <a:ext cx="6392799" cy="1000252"/>
            <a:chOff x="441198" y="301625"/>
            <a:chExt cx="6392799" cy="1000252"/>
          </a:xfrm>
        </p:grpSpPr>
        <p:sp>
          <p:nvSpPr>
            <p:cNvPr id="2" name="TextBox 2"/>
            <p:cNvSpPr txBox="1"/>
            <p:nvPr/>
          </p:nvSpPr>
          <p:spPr>
            <a:xfrm>
              <a:off x="450342" y="301625"/>
              <a:ext cx="16947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11 / 下一步实验方向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685800"/>
              <a:ext cx="639279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下一步：按错误类型验证局部补证</a:t>
              </a:r>
            </a:p>
          </p:txBody>
        </p:sp>
      </p:grpSp>
      <p:grpSp>
        <p:nvGrpSpPr>
          <p:cNvPr id="6" name="closing-takeaway"/>
          <p:cNvGrpSpPr/>
          <p:nvPr/>
        </p:nvGrpSpPr>
        <p:grpSpPr>
          <a:xfrm>
            <a:off x="445770" y="1635125"/>
            <a:ext cx="5946675" cy="440055"/>
            <a:chOff x="445770" y="1635125"/>
            <a:chExt cx="5946675" cy="440055"/>
          </a:xfrm>
        </p:grpSpPr>
        <p:sp>
          <p:nvSpPr>
            <p:cNvPr id="5" name="TextBox 5"/>
            <p:cNvSpPr txBox="1"/>
            <p:nvPr/>
          </p:nvSpPr>
          <p:spPr>
            <a:xfrm>
              <a:off x="445770" y="1635125"/>
              <a:ext cx="594667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先用可靠反例验证补证，再扩大 Agent 实验</a:t>
              </a:r>
            </a:p>
          </p:txBody>
        </p:sp>
      </p:grpSp>
      <p:grpSp>
        <p:nvGrpSpPr>
          <p:cNvPr id="19" name="targeted-evidence-paths"/>
          <p:cNvGrpSpPr/>
          <p:nvPr/>
        </p:nvGrpSpPr>
        <p:grpSpPr>
          <a:xfrm>
            <a:off x="457200" y="2470150"/>
            <a:ext cx="6141720" cy="2476119"/>
            <a:chOff x="457200" y="2470150"/>
            <a:chExt cx="6141720" cy="2476119"/>
          </a:xfrm>
        </p:grpSpPr>
        <p:sp>
          <p:nvSpPr>
            <p:cNvPr id="7" name="Rectangle 7"/>
            <p:cNvSpPr/>
            <p:nvPr/>
          </p:nvSpPr>
          <p:spPr>
            <a:xfrm>
              <a:off x="457200" y="3067050"/>
              <a:ext cx="2190750" cy="990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260725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核验较明确错误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78942" y="3663950"/>
              <a:ext cx="1676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原帧 + 连续视频片段</a:t>
              </a:r>
            </a:p>
          </p:txBody>
        </p:sp>
        <p:grpSp>
          <p:nvGrpSpPr>
            <p:cNvPr id="14" name="Group 14"/>
            <p:cNvGrpSpPr/>
            <p:nvPr/>
          </p:nvGrpSpPr>
          <p:grpSpPr>
            <a:xfrm>
              <a:off x="2647950" y="2676525"/>
              <a:ext cx="1047750" cy="1638301"/>
              <a:chOff x="2647950" y="2676525"/>
              <a:chExt cx="1047750" cy="1638301"/>
            </a:xfrm>
          </p:grpSpPr>
          <p:sp>
            <p:nvSpPr>
              <p:cNvPr id="10" name="Line 10"/>
              <p:cNvSpPr/>
              <p:nvPr/>
            </p:nvSpPr>
            <p:spPr>
              <a:xfrm>
                <a:off x="2647950" y="3562350"/>
                <a:ext cx="476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6250" h="9525">
                    <a:moveTo>
                      <a:pt x="0" y="0"/>
                    </a:moveTo>
                    <a:lnTo>
                      <a:pt x="476250" y="0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11" name="Line 11"/>
              <p:cNvSpPr/>
              <p:nvPr/>
            </p:nvSpPr>
            <p:spPr>
              <a:xfrm>
                <a:off x="3124200" y="2676525"/>
                <a:ext cx="9525" cy="16383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638300">
                    <a:moveTo>
                      <a:pt x="0" y="0"/>
                    </a:moveTo>
                    <a:lnTo>
                      <a:pt x="0" y="1638300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12" name="Line 12"/>
              <p:cNvSpPr/>
              <p:nvPr/>
            </p:nvSpPr>
            <p:spPr>
              <a:xfrm>
                <a:off x="3124200" y="2676525"/>
                <a:ext cx="571500" cy="1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tailEnd type="triangle" w="lg" len="lg"/>
              </a:ln>
            </p:spPr>
          </p:sp>
          <p:sp>
            <p:nvSpPr>
              <p:cNvPr id="13" name="Line 13"/>
              <p:cNvSpPr/>
              <p:nvPr/>
            </p:nvSpPr>
            <p:spPr>
              <a:xfrm>
                <a:off x="3124200" y="4314825"/>
                <a:ext cx="571500" cy="1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tailEnd type="triangle" w="lg" len="lg"/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3913632" y="247015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选错事件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915156" y="2917825"/>
              <a:ext cx="2532888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对象、动作、关系和场景</a:t>
              </a:r>
              <a:b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是否同时满足 query？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913632" y="410845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边界错误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915156" y="4594225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检查起点之前与终点之后</a:t>
              </a:r>
            </a:p>
          </p:txBody>
        </p:sp>
      </p:grpSp>
      <p:grpSp>
        <p:nvGrpSpPr>
          <p:cNvPr id="24" name="annotation-review-path"/>
          <p:cNvGrpSpPr/>
          <p:nvPr/>
        </p:nvGrpSpPr>
        <p:grpSpPr>
          <a:xfrm>
            <a:off x="8572500" y="2343150"/>
            <a:ext cx="3162300" cy="2781300"/>
            <a:chOff x="8572500" y="2343150"/>
            <a:chExt cx="3162300" cy="2781300"/>
          </a:xfrm>
        </p:grpSpPr>
        <p:sp>
          <p:nvSpPr>
            <p:cNvPr id="20" name="Rectangle 20"/>
            <p:cNvSpPr/>
            <p:nvPr/>
          </p:nvSpPr>
          <p:spPr>
            <a:xfrm>
              <a:off x="8572500" y="2343150"/>
              <a:ext cx="3162300" cy="2781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828532" y="254635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标注疑点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830056" y="3127375"/>
              <a:ext cx="2155698" cy="10378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人工复核重复实例</a:t>
              </a:r>
              <a:b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与 query 动作范围；</a:t>
              </a:r>
              <a:b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保留发布 GT。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832342" y="4530725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语音相关案例单独核查。</a:t>
              </a:r>
            </a:p>
          </p:txBody>
        </p:sp>
      </p:grpSp>
      <p:grpSp>
        <p:nvGrpSpPr>
          <p:cNvPr id="27" name="acceptance-metrics"/>
          <p:cNvGrpSpPr/>
          <p:nvPr/>
        </p:nvGrpSpPr>
        <p:grpSpPr>
          <a:xfrm>
            <a:off x="446532" y="5495925"/>
            <a:ext cx="11288268" cy="632968"/>
            <a:chOff x="446532" y="5495925"/>
            <a:chExt cx="11288268" cy="632968"/>
          </a:xfrm>
        </p:grpSpPr>
        <p:sp>
          <p:nvSpPr>
            <p:cNvPr id="25" name="Line 25"/>
            <p:cNvSpPr/>
            <p:nvPr/>
          </p:nvSpPr>
          <p:spPr>
            <a:xfrm>
              <a:off x="457200" y="5495925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46532" y="5718175"/>
              <a:ext cx="652188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验收：</a:t>
              </a: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修复率 + 原命中误改 + 全分母 R1 + 调用成本</a:t>
              </a:r>
            </a:p>
          </p:txBody>
        </p:sp>
      </p:grpSp>
      <p:grpSp>
        <p:nvGrpSpPr>
          <p:cNvPr id="30" name="footer"/>
          <p:cNvGrpSpPr/>
          <p:nvPr/>
        </p:nvGrpSpPr>
        <p:grpSpPr>
          <a:xfrm>
            <a:off x="451104" y="6438900"/>
            <a:ext cx="11289792" cy="234696"/>
            <a:chOff x="451104" y="6438900"/>
            <a:chExt cx="11289792" cy="234696"/>
          </a:xfrm>
        </p:grpSpPr>
        <p:sp>
          <p:nvSpPr>
            <p:cNvPr id="28" name="TextBox 28"/>
            <p:cNvSpPr txBox="1"/>
            <p:nvPr/>
          </p:nvSpPr>
          <p:spPr>
            <a:xfrm>
              <a:off x="451104" y="6438900"/>
              <a:ext cx="53280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计划尚未执行；LensWalk / Gemini 代码仍待对接｜依据：组会后工作总结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187532" y="643890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12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revalue_grounding_progress">
  <a:themeElements>
    <a:clrScheme name="revalue_grounding_progress">
      <a:dk1>
        <a:srgbClr val="17324D"/>
      </a:dk1>
      <a:lt1>
        <a:srgbClr val="FFFFFF"/>
      </a:lt1>
      <a:dk2>
        <a:srgbClr val="1F497D"/>
      </a:dk2>
      <a:lt2>
        <a:srgbClr val="F2F5F8"/>
      </a:lt2>
      <a:accent1>
        <a:srgbClr val="17324D"/>
      </a:accent1>
      <a:accent2>
        <a:srgbClr val="237F8C"/>
      </a:accent2>
      <a:accent3>
        <a:srgbClr val="C76128"/>
      </a:accent3>
      <a:accent4>
        <a:srgbClr val="17324D"/>
      </a:accent4>
      <a:accent5>
        <a:srgbClr val="52667A"/>
      </a:accent5>
      <a:accent6>
        <a:srgbClr val="D5DEE8"/>
      </a:accent6>
      <a:hlink>
        <a:srgbClr val="237F8C"/>
      </a:hlink>
      <a:folHlink>
        <a:srgbClr val="C76128"/>
      </a:folHlink>
    </a:clrScheme>
    <a:fontScheme name="revalue_grounding_progress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value_grounding_progres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revalue_grounding_progress">
  <a:themeElements>
    <a:clrScheme name="revalue_grounding_progress">
      <a:dk1>
        <a:srgbClr val="17324D"/>
      </a:dk1>
      <a:lt1>
        <a:srgbClr val="FFFFFF"/>
      </a:lt1>
      <a:dk2>
        <a:srgbClr val="1F497D"/>
      </a:dk2>
      <a:lt2>
        <a:srgbClr val="F2F5F8"/>
      </a:lt2>
      <a:accent1>
        <a:srgbClr val="17324D"/>
      </a:accent1>
      <a:accent2>
        <a:srgbClr val="237F8C"/>
      </a:accent2>
      <a:accent3>
        <a:srgbClr val="C76128"/>
      </a:accent3>
      <a:accent4>
        <a:srgbClr val="17324D"/>
      </a:accent4>
      <a:accent5>
        <a:srgbClr val="52667A"/>
      </a:accent5>
      <a:accent6>
        <a:srgbClr val="D5DEE8"/>
      </a:accent6>
      <a:hlink>
        <a:srgbClr val="237F8C"/>
      </a:hlink>
      <a:folHlink>
        <a:srgbClr val="C76128"/>
      </a:folHlink>
    </a:clrScheme>
    <a:fontScheme name="revalue_grounding_progress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value_grounding_progres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2026-10-29T16:51:42Z</dcterms:created>
  <dcterms:modified xsi:type="dcterms:W3CDTF">2026-10-29T16:51:42Z</dcterms:modified>
  <cp:category/>
  <cp:contentStatus/>
</cp:coreProperties>
</file>